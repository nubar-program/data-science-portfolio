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1" r:id="rId6"/>
    <p:sldId id="286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7" r:id="rId18"/>
    <p:sldId id="271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8" r:id="rId28"/>
    <p:sldId id="281" r:id="rId29"/>
    <p:sldId id="289" r:id="rId30"/>
    <p:sldId id="290" r:id="rId31"/>
    <p:sldId id="284" r:id="rId32"/>
    <p:sldId id="282" r:id="rId33"/>
    <p:sldId id="291" r:id="rId34"/>
    <p:sldId id="292" r:id="rId35"/>
    <p:sldId id="293" r:id="rId36"/>
    <p:sldId id="294" r:id="rId37"/>
    <p:sldId id="295" r:id="rId38"/>
    <p:sldId id="283" r:id="rId39"/>
    <p:sldId id="285" r:id="rId40"/>
    <p:sldId id="296" r:id="rId41"/>
    <p:sldId id="297" r:id="rId4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47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49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290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883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01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723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825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702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109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597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822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120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33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emf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emf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emf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emf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emf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emf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emf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emf"/><Relationship Id="rId5" Type="http://schemas.openxmlformats.org/officeDocument/2006/relationships/package" Target="../embeddings/_________Microsoft_Word.docx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30375" y="2331350"/>
            <a:ext cx="12199800" cy="50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Фармацевтическая компания: кластеры, прогноз и сезонность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Аналитический кейс: сегментация клиентов, 30-дневный прогноз выручки и учет сезонной активности спроса.
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1530375" y="8050825"/>
            <a:ext cx="7802400" cy="122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Исмаилова Нубар, 15.27Д-ПМ02/23б
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0914" y="0"/>
            <a:ext cx="18708914" cy="1052376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7242500" y="9536150"/>
            <a:ext cx="924600" cy="108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1280825" y="3378532"/>
            <a:ext cx="15305436" cy="553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ru-RU" sz="26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Необходимо выполнить 3 задачи: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	Проанализировать содержимое кластеров и предложить бизнес-подход, позволяющий улучшить волатильность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	Построить работающую модель для данной компании, которая будет качественно прогнозировать выручку на горизонте 30 дней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	Учесть сезонные особенности клиентской активности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6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выявить бизнес-рекомендации для фармакологической компании</a:t>
            </a: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519350" y="845771"/>
            <a:ext cx="14526600" cy="129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Данные, период наблюдения и постановка задач
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458892" y="886492"/>
            <a:ext cx="15065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проекта и логика анализа
</a:t>
            </a:r>
            <a:endParaRPr lang="en-US" sz="4600" dirty="0"/>
          </a:p>
        </p:txBody>
      </p:sp>
      <p:sp>
        <p:nvSpPr>
          <p:cNvPr id="9" name="Text 1"/>
          <p:cNvSpPr txBox="1"/>
          <p:nvPr/>
        </p:nvSpPr>
        <p:spPr>
          <a:xfrm>
            <a:off x="123775" y="9536150"/>
            <a:ext cx="10290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2"/>
          <p:cNvSpPr txBox="1"/>
          <p:nvPr/>
        </p:nvSpPr>
        <p:spPr>
          <a:xfrm>
            <a:off x="3046950" y="3598000"/>
            <a:ext cx="3802500" cy="19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и валидация данных
</a:t>
            </a:r>
            <a:r>
              <a:rPr lang="en-US" sz="149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Загружаются два датасета, выполняется первичный обзор размеров таблиц и контроль пропусков. Далее считаются базовые агрегаты и готовятся структуры для обучения моделей по каждой задаче.
</a:t>
            </a:r>
            <a:endParaRPr lang="en-US" sz="2163" dirty="0"/>
          </a:p>
        </p:txBody>
      </p:sp>
      <p:sp>
        <p:nvSpPr>
          <p:cNvPr id="11" name="Text 3"/>
          <p:cNvSpPr txBox="1"/>
          <p:nvPr/>
        </p:nvSpPr>
        <p:spPr>
          <a:xfrm>
            <a:off x="8267363" y="3598000"/>
            <a:ext cx="3802500" cy="19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5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прогноз выручки
</a:t>
            </a:r>
            <a:r>
              <a:rPr lang="en-US" sz="169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Формируется временной ряд и строится модель квантильной регрессии на LightGBM. Цель — надежный прогноз суммарной выручки на горизонте 30 дней с контролем смещения агрегата.
</a:t>
            </a:r>
            <a:endParaRPr lang="en-US" sz="2453" dirty="0"/>
          </a:p>
        </p:txBody>
      </p:sp>
      <p:sp>
        <p:nvSpPr>
          <p:cNvPr id="12" name="Text 4"/>
          <p:cNvSpPr txBox="1"/>
          <p:nvPr/>
        </p:nvSpPr>
        <p:spPr>
          <a:xfrm>
            <a:off x="5684638" y="7328250"/>
            <a:ext cx="3802500" cy="19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интерпретация кластеров
</a:t>
            </a:r>
            <a:r>
              <a:rPr lang="en-US" sz="149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Обучается Random Forest для оценки feature importance и связи признаков с cluster_id. На основе этого сегментам присваиваются бизнес-названия и формируются управленческие гипотезы.
</a:t>
            </a:r>
            <a:endParaRPr lang="en-US" sz="2163" dirty="0"/>
          </a:p>
        </p:txBody>
      </p:sp>
      <p:sp>
        <p:nvSpPr>
          <p:cNvPr id="13" name="Text 5"/>
          <p:cNvSpPr txBox="1"/>
          <p:nvPr/>
        </p:nvSpPr>
        <p:spPr>
          <a:xfrm>
            <a:off x="10858738" y="7328250"/>
            <a:ext cx="3802500" cy="19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Task: классификация сезонности
</a:t>
            </a:r>
            <a:r>
              <a:rPr lang="en-US" sz="149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9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связке клиент×склад создаются рядовые признаки динамики: сезонность, тренд, ACF на ключевых лагах и показатели регулярности. Затем ряды кластеризуются по классу сезонности.
</a:t>
            </a:r>
            <a:endParaRPr lang="en-US" sz="2163" dirty="0"/>
          </a:p>
        </p:txBody>
      </p:sp>
      <p:sp>
        <p:nvSpPr>
          <p:cNvPr id="14" name="Text 6"/>
          <p:cNvSpPr txBox="1"/>
          <p:nvPr/>
        </p:nvSpPr>
        <p:spPr>
          <a:xfrm>
            <a:off x="13455775" y="3598000"/>
            <a:ext cx="3802500" cy="19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72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рекомендации и интеграция
</a:t>
            </a:r>
            <a:r>
              <a:rPr lang="en-US" sz="157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57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Task 1, Task 2 и Bonus Task объединяются в набор правил управления. Кластер служит стратегией клиента, сезонность — режимом запасов, а прогноз — операционным планированием.
</a:t>
            </a:r>
            <a:endParaRPr lang="en-US" sz="227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3325" y="3574753"/>
            <a:ext cx="9042900" cy="333789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40468" y="7807443"/>
            <a:ext cx="9042900" cy="24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41"/>
              </a:lnSpc>
              <a:buNone/>
            </a:pPr>
            <a:r>
              <a:rPr lang="ru-RU" sz="1292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Файлы: </a:t>
            </a:r>
            <a:r>
              <a:rPr lang="en-US" sz="1292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clusters_cust_hid_HIKPI_20230414 и salesTest_cust_loc_HIKPI_20230414
</a:t>
            </a:r>
            <a:endParaRPr lang="en-US" sz="1292" dirty="0"/>
          </a:p>
        </p:txBody>
      </p:sp>
      <p:sp>
        <p:nvSpPr>
          <p:cNvPr id="6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382425" y="1918950"/>
            <a:ext cx="8069100" cy="66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Размеры исходных наборов и бизнес-охват
</a:t>
            </a: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Масштаб данных подтвержден в коде через shape; тестовая часть позволяет сопоставлять клиентскую и складскую динамику при прогнозировании.
</a:t>
            </a: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решаются на двух несвязанных по клиентам представлениях: кластерные данные и временные ряды разведены по ключам, что требует последующей сборки логики через управленческие правила.
</a:t>
            </a:r>
            <a:endParaRPr lang="en-US" sz="4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475" y="3032041"/>
            <a:ext cx="8493000" cy="519571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57150" y="428975"/>
            <a:ext cx="14362200" cy="151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</a:t>
            </a:r>
            <a:r>
              <a:rPr lang="en-US" sz="45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</a:t>
            </a: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клиентов по 9 кластерам
</a:t>
            </a:r>
            <a:endParaRPr lang="en-US" sz="4500" dirty="0"/>
          </a:p>
        </p:txBody>
      </p:sp>
      <p:sp>
        <p:nvSpPr>
          <p:cNvPr id="5" name="Text 1"/>
          <p:cNvSpPr txBox="1"/>
          <p:nvPr/>
        </p:nvSpPr>
        <p:spPr>
          <a:xfrm>
            <a:off x="10254875" y="1450234"/>
            <a:ext cx="7728300" cy="562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41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Доли получены группировкой по cluster_id и расчетом долей сегментов; сегменты распределены без одного доминирующего кластера.
</a:t>
            </a: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сегментов относительно ровное, поэтому управление спросом требует дифференцированных правил, а не универсального корректирующего фактора.
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123775" y="9594207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200" b="1" dirty="0">
                <a:solidFill>
                  <a:srgbClr val="D9D9D9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9645375" y="8170450"/>
            <a:ext cx="62919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41"/>
              </a:lnSpc>
              <a:buNone/>
            </a:pPr>
            <a:r>
              <a:rPr lang="en-US" sz="2000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clusters_cust_hid_HIKPI_20230414: группировка по cluster_id
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57150" y="428975"/>
            <a:ext cx="14362200" cy="151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клиентов по 9 кластерам
</a:t>
            </a:r>
            <a:endParaRPr lang="en-US" sz="4500" dirty="0"/>
          </a:p>
        </p:txBody>
      </p:sp>
      <p:sp>
        <p:nvSpPr>
          <p:cNvPr id="5" name="Text 1"/>
          <p:cNvSpPr txBox="1"/>
          <p:nvPr/>
        </p:nvSpPr>
        <p:spPr>
          <a:xfrm>
            <a:off x="10254875" y="1450234"/>
            <a:ext cx="7728300" cy="562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41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Доли получены группировкой по cluster_id и расчетом долей сегментов; сегменты распределены без одного доминирующего кластера.
</a:t>
            </a: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сегментов относительно ровное, поэтому управление спросом требует дифференцированных правил, а не универсального корректирующего фактора.
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9645375" y="8170450"/>
            <a:ext cx="62919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41"/>
              </a:lnSpc>
              <a:buNone/>
            </a:pPr>
            <a:r>
              <a:rPr lang="en-US" sz="2000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clusters_cust_hid_HIKPI_20230414: группировка по cluster_id
</a:t>
            </a:r>
            <a:endParaRPr lang="en-US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F3F0F5-38D5-430C-A3BD-1F525B54F050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" r="49653" b="59019"/>
          <a:stretch/>
        </p:blipFill>
        <p:spPr bwMode="auto">
          <a:xfrm>
            <a:off x="478444" y="3179942"/>
            <a:ext cx="9297987" cy="465912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92855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69021" y="3193298"/>
            <a:ext cx="8958300" cy="424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4"/>
              </a:lnSpc>
              <a:buNone/>
            </a:pPr>
            <a:r>
              <a:rPr lang="ru-RU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Важные кластерные признаки:</a:t>
            </a:r>
          </a:p>
          <a:p>
            <a:pPr marL="914400" lvl="1" indent="-457200">
              <a:lnSpc>
                <a:spcPct val="120004"/>
              </a:lnSpc>
              <a:buFont typeface="+mj-lt"/>
              <a:buAutoNum type="arabicPeriod"/>
            </a:pPr>
            <a:r>
              <a:rPr lang="en-US" sz="23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sdf_state_share</a:t>
            </a: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0.0722</a:t>
            </a:r>
          </a:p>
          <a:p>
            <a:pPr marL="914400" lvl="1" indent="-457200">
              <a:lnSpc>
                <a:spcPct val="120004"/>
              </a:lnSpc>
              <a:buFont typeface="+mj-lt"/>
              <a:buAutoNum type="arabicPeriod"/>
            </a:pPr>
            <a:r>
              <a:rPr lang="en-US" sz="23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sdf_web_share</a:t>
            </a: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0.0043</a:t>
            </a:r>
          </a:p>
          <a:p>
            <a:pPr marL="914400" lvl="1" indent="-457200">
              <a:lnSpc>
                <a:spcPct val="120004"/>
              </a:lnSpc>
              <a:buFont typeface="+mj-lt"/>
              <a:buAutoNum type="arabicPeriod"/>
            </a:pPr>
            <a:r>
              <a:rPr lang="en-US" sz="23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sdf_tender_share</a:t>
            </a: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0.0101</a:t>
            </a:r>
          </a:p>
          <a:p>
            <a:pPr marL="914400" lvl="1" indent="-457200">
              <a:lnSpc>
                <a:spcPct val="120004"/>
              </a:lnSpc>
              <a:buFont typeface="+mj-lt"/>
              <a:buAutoNum type="arabicPeriod"/>
            </a:pPr>
            <a:r>
              <a:rPr lang="en-US" sz="23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sdf_gross_margin</a:t>
            </a: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0.0057</a:t>
            </a:r>
          </a:p>
          <a:p>
            <a:pPr marL="914400" lvl="1" indent="-457200">
              <a:lnSpc>
                <a:spcPct val="120004"/>
              </a:lnSpc>
              <a:buFont typeface="+mj-lt"/>
              <a:buAutoNum type="arabicPeriod"/>
            </a:pPr>
            <a:r>
              <a:rPr lang="en-US" sz="23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sdf_days_with_orders</a:t>
            </a: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0.0542</a:t>
            </a:r>
          </a:p>
          <a:p>
            <a:pPr marL="914400" lvl="1" indent="-457200">
              <a:lnSpc>
                <a:spcPct val="120004"/>
              </a:lnSpc>
              <a:buFont typeface="+mj-lt"/>
              <a:buAutoNum type="arabicPeriod"/>
            </a:pPr>
            <a:r>
              <a:rPr lang="en-US" sz="23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sdf_daily_mean_sales</a:t>
            </a: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0.0238</a:t>
            </a:r>
          </a:p>
          <a:p>
            <a:pPr marL="914400" lvl="1" indent="-457200">
              <a:lnSpc>
                <a:spcPct val="120004"/>
              </a:lnSpc>
              <a:buFont typeface="+mj-lt"/>
              <a:buAutoNum type="arabicPeriod"/>
            </a:pPr>
            <a:r>
              <a:rPr lang="en-US" sz="23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sdf_seasonal_strength</a:t>
            </a: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0.0155</a:t>
            </a:r>
          </a:p>
          <a:p>
            <a:pPr marL="914400" lvl="1" indent="-457200">
              <a:lnSpc>
                <a:spcPct val="120004"/>
              </a:lnSpc>
              <a:buFont typeface="+mj-lt"/>
              <a:buAutoNum type="arabicPeriod"/>
            </a:pPr>
            <a:r>
              <a:rPr lang="en-US" sz="23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sdf_trend_strength</a:t>
            </a: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0.0121</a:t>
            </a:r>
            <a:endParaRPr lang="en-US" sz="6500" dirty="0"/>
          </a:p>
        </p:txBody>
      </p:sp>
      <p:sp>
        <p:nvSpPr>
          <p:cNvPr id="5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200" b="1" dirty="0">
                <a:solidFill>
                  <a:srgbClr val="D9D9D9"/>
                </a:solidFill>
                <a:latin typeface="Arial" pitchFamily="34" charset="0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10506025" y="3355034"/>
            <a:ext cx="7552061" cy="499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lnSpc>
                <a:spcPct val="140014"/>
              </a:lnSpc>
              <a:buFont typeface="+mj-lt"/>
              <a:buAutoNum type="arabicPeriod"/>
            </a:pPr>
            <a:r>
              <a:rPr lang="ru-RU" sz="2400" dirty="0"/>
              <a:t>Доля бюджетных закупок среди всего объема продаж клиента</a:t>
            </a:r>
          </a:p>
          <a:p>
            <a:pPr marL="457200" indent="-457200" algn="l">
              <a:lnSpc>
                <a:spcPct val="140014"/>
              </a:lnSpc>
              <a:buFont typeface="+mj-lt"/>
              <a:buAutoNum type="arabicPeriod"/>
            </a:pPr>
            <a:r>
              <a:rPr lang="ru-RU" sz="2400" dirty="0"/>
              <a:t>Доля интернет продаж среди всего объема продаж клиента</a:t>
            </a:r>
          </a:p>
          <a:p>
            <a:pPr marL="457200" indent="-457200" algn="l">
              <a:lnSpc>
                <a:spcPct val="140014"/>
              </a:lnSpc>
              <a:buFont typeface="+mj-lt"/>
              <a:buAutoNum type="arabicPeriod"/>
            </a:pPr>
            <a:r>
              <a:rPr lang="ru-RU" sz="2400" dirty="0"/>
              <a:t>Доля тендерных закупок среди всего объема продаж клиента</a:t>
            </a:r>
          </a:p>
          <a:p>
            <a:pPr marL="457200" indent="-457200" algn="l">
              <a:lnSpc>
                <a:spcPct val="140014"/>
              </a:lnSpc>
              <a:buFont typeface="+mj-lt"/>
              <a:buAutoNum type="arabicPeriod"/>
            </a:pPr>
            <a:r>
              <a:rPr lang="ru-RU" sz="2400" dirty="0"/>
              <a:t>Валовая рентабельность продаж клиенту</a:t>
            </a:r>
          </a:p>
          <a:p>
            <a:pPr marL="457200" indent="-457200" algn="l">
              <a:lnSpc>
                <a:spcPct val="140014"/>
              </a:lnSpc>
              <a:buFont typeface="+mj-lt"/>
              <a:buAutoNum type="arabicPeriod"/>
            </a:pPr>
            <a:r>
              <a:rPr lang="ru-RU" sz="2400" dirty="0"/>
              <a:t>Количество дней с заказом в периоде</a:t>
            </a:r>
          </a:p>
          <a:p>
            <a:pPr marL="457200" indent="-457200" algn="l">
              <a:lnSpc>
                <a:spcPct val="140014"/>
              </a:lnSpc>
              <a:buFont typeface="+mj-lt"/>
              <a:buAutoNum type="arabicPeriod"/>
            </a:pPr>
            <a:r>
              <a:rPr lang="ru-RU" sz="2400" dirty="0"/>
              <a:t>Объем продаж клиенту, в среднем в день</a:t>
            </a:r>
          </a:p>
          <a:p>
            <a:pPr marL="457200" indent="-457200" algn="l">
              <a:lnSpc>
                <a:spcPct val="140014"/>
              </a:lnSpc>
              <a:buFont typeface="+mj-lt"/>
              <a:buAutoNum type="arabicPeriod"/>
            </a:pPr>
            <a:r>
              <a:rPr lang="ru-RU" sz="2400" dirty="0"/>
              <a:t>Выраженность сезонности спроса</a:t>
            </a:r>
          </a:p>
          <a:p>
            <a:pPr marL="457200" indent="-457200" algn="l">
              <a:lnSpc>
                <a:spcPct val="140014"/>
              </a:lnSpc>
              <a:buFont typeface="+mj-lt"/>
              <a:buAutoNum type="arabicPeriod"/>
            </a:pPr>
            <a:r>
              <a:rPr lang="ru-RU" sz="2400" dirty="0"/>
              <a:t>Выраженность тренда спроса клиента</a:t>
            </a:r>
          </a:p>
          <a:p>
            <a:pPr marL="0" indent="0" algn="l">
              <a:lnSpc>
                <a:spcPct val="140014"/>
              </a:lnSpc>
              <a:buNone/>
            </a:pPr>
            <a:endParaRPr lang="en-US" sz="2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4D748F0-3412-453F-9A20-455C2B5499B0}"/>
              </a:ext>
            </a:extLst>
          </p:cNvPr>
          <p:cNvSpPr txBox="1"/>
          <p:nvPr/>
        </p:nvSpPr>
        <p:spPr>
          <a:xfrm>
            <a:off x="2646653" y="49493"/>
            <a:ext cx="11620890" cy="307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</a:t>
            </a:r>
            <a:r>
              <a:rPr lang="ru-RU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важность признаков</a:t>
            </a: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4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30B850-1BA0-402A-A96C-9BA51307831C}"/>
              </a:ext>
            </a:extLst>
          </p:cNvPr>
          <p:cNvSpPr txBox="1"/>
          <p:nvPr/>
        </p:nvSpPr>
        <p:spPr>
          <a:xfrm>
            <a:off x="1269021" y="8528162"/>
            <a:ext cx="9289142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Эти признаки будем использовать для определения бизнес-названия кластера – они отражают экономический смысл разбиения данных на категории.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4725" y="3897350"/>
            <a:ext cx="8558018" cy="3922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сегмента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3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характеристики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Размер: 10,837 клиентов (8.4% от базы)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0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СЕГМЕНТА: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Channel: B2B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Средняя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Крупный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Норма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Dynamics: Стабильно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0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КЛЮЧЕВЫЕ ЦИФРЫ: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Средние продажи/день: 346,872 </a:t>
            </a:r>
            <a:r>
              <a:rPr lang="ru-RU" sz="2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</a:t>
            </a: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(+148.8%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Маржинальность: 5.3% (+77.6%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Дней с заказами: 38.0 (-14.2%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онлайн: 2.2%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</a:t>
            </a:r>
            <a:r>
              <a:rPr lang="ru-RU" sz="2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</a:t>
            </a: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0.2%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Сезонность: 0.27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Тренд: 0.65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123775" y="9594207"/>
            <a:ext cx="10290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200" b="1" dirty="0">
                <a:solidFill>
                  <a:srgbClr val="D9D9D9"/>
                </a:solidFill>
                <a:latin typeface="Arial" pitchFamily="34" charset="0"/>
                <a:cs typeface="Arial" pitchFamily="34" charset="-120"/>
              </a:rPr>
              <a:t>8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1679325" y="440675"/>
            <a:ext cx="7039800" cy="107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 0: Крупный опт
</a:t>
            </a:r>
            <a:endParaRPr lang="en-US" sz="4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73703-F023-456C-8425-ED5796532F93}"/>
              </a:ext>
            </a:extLst>
          </p:cNvPr>
          <p:cNvSpPr txBox="1"/>
          <p:nvPr/>
        </p:nvSpPr>
        <p:spPr>
          <a:xfrm>
            <a:off x="9579429" y="5781276"/>
            <a:ext cx="714102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Управленческая</a:t>
            </a: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</a:t>
            </a: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коде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агрегированными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средними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признакам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затем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сегменту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присвоен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бизнес-ярлык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профилю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объема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стабильности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закрепить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персонального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менеджера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обеспечить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складской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аллокации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включая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предложения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отсрочке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платежей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</a:t>
            </a:r>
            <a:endParaRPr lang="ru-RU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4725" y="2306343"/>
            <a:ext cx="7725300" cy="684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</a:t>
            </a: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</a:t>
            </a:r>
            <a:r>
              <a:rPr lang="en-US" sz="4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Мелкий</a:t>
            </a: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</a:t>
            </a: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Размер: 13,265 клиентов (10.3% от базы)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СЕГМЕНТА: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Channel: B2B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Средняя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Средний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Норма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Dynamics: Стабильно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КЛЮЧЕВЫЕ ЦИФРЫ: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Средние продажи/день: 13,951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(-90.0%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Маржинальность: 5.3% (+79.2%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Дней с заказами: 18.8 (-57.5%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онлайн: 1.2%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0.1%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Сезонность: 0.24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Тренд: 0.50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4600" dirty="0"/>
          </a:p>
        </p:txBody>
      </p:sp>
      <p:sp>
        <p:nvSpPr>
          <p:cNvPr id="5" name="Text 1"/>
          <p:cNvSpPr txBox="1"/>
          <p:nvPr/>
        </p:nvSpPr>
        <p:spPr>
          <a:xfrm>
            <a:off x="123775" y="9536150"/>
            <a:ext cx="10290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200" b="1" dirty="0">
                <a:solidFill>
                  <a:srgbClr val="D9D9D9"/>
                </a:solidFill>
                <a:latin typeface="Arial" pitchFamily="34" charset="0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05ADC-92F9-424D-92AA-807A5FE79113}"/>
              </a:ext>
            </a:extLst>
          </p:cNvPr>
          <p:cNvSpPr txBox="1"/>
          <p:nvPr/>
        </p:nvSpPr>
        <p:spPr>
          <a:xfrm>
            <a:off x="9662814" y="5391977"/>
            <a:ext cx="77253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Выделение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уровне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агрегатов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признаков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интерпретации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экономического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смысла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объем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среднего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маржинальность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положительна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относительно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ru-RU" sz="28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Рекомендуется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self-service,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пакетирование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заказов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снижения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логистических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издержек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кросс-сейл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сопутствующих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позиций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ru-RU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009269" y="214712"/>
            <a:ext cx="7925400" cy="232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 2: </a:t>
            </a:r>
            <a:r>
              <a:rPr lang="en-US" sz="4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Госзаказчики</a:t>
            </a: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
</a:t>
            </a:r>
            <a:endParaRPr lang="en-US" sz="4600" dirty="0"/>
          </a:p>
        </p:txBody>
      </p:sp>
      <p:sp>
        <p:nvSpPr>
          <p:cNvPr id="7" name="Text 1"/>
          <p:cNvSpPr txBox="1"/>
          <p:nvPr/>
        </p:nvSpPr>
        <p:spPr>
          <a:xfrm>
            <a:off x="10479314" y="5578929"/>
            <a:ext cx="7323582" cy="344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коде кластер определяется концентрацией государственных закупок и отрицательной маржой, что указывает на зависимость от тендерных условий. Поэтому целесообразно выделить отдельный P&amp;L-центр и планировать операции под календарь тендеров, чтобы минимизировать штрафные риски и управлять кассовыми разрывами.
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1152775" y="5327956"/>
            <a:ext cx="7925400" cy="217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Размер: 13,446 клиентов (10.5% от базы)</a:t>
            </a:r>
          </a:p>
          <a:p>
            <a:pPr marL="0" indent="0" algn="l">
              <a:lnSpc>
                <a:spcPct val="115000"/>
              </a:lnSpc>
              <a:buNone/>
            </a:pPr>
            <a:endParaRPr lang="ru-RU" sz="2476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СЕГМЕНТА: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Channel: Госзакупки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476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Средняя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476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Средний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476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476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Норма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Dynamics: Стабильно</a:t>
            </a:r>
          </a:p>
          <a:p>
            <a:pPr marL="0" indent="0" algn="l">
              <a:lnSpc>
                <a:spcPct val="115000"/>
              </a:lnSpc>
              <a:buNone/>
            </a:pPr>
            <a:endParaRPr lang="ru-RU" sz="2476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КЛЮЧЕВЫЕ ЦИФРЫ: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Средние продажи/день: 382,730 </a:t>
            </a:r>
            <a:r>
              <a:rPr lang="ru-RU" sz="2476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</a:t>
            </a: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(+174.5% к базе)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Маржинальность: -1.3% (-142.5% к базе)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Дней с заказами: 10.4 (-76.5% к базе)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онлайн: 0.0%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</a:t>
            </a:r>
            <a:r>
              <a:rPr lang="ru-RU" sz="2476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</a:t>
            </a: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99.9%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Сезонность: 0.24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Тренд: 0.40</a:t>
            </a:r>
          </a:p>
          <a:p>
            <a:pPr marL="0" indent="0" algn="l">
              <a:lnSpc>
                <a:spcPct val="115000"/>
              </a:lnSpc>
              <a:buNone/>
            </a:pPr>
            <a:endParaRPr lang="ru-RU" sz="2476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2476" dirty="0"/>
          </a:p>
        </p:txBody>
      </p:sp>
      <p:sp>
        <p:nvSpPr>
          <p:cNvPr id="9" name="Text 3"/>
          <p:cNvSpPr txBox="1"/>
          <p:nvPr/>
        </p:nvSpPr>
        <p:spPr>
          <a:xfrm>
            <a:off x="123775" y="9536150"/>
            <a:ext cx="10290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200" b="1" dirty="0">
                <a:solidFill>
                  <a:srgbClr val="D9D9D9"/>
                </a:solidFill>
                <a:latin typeface="Arial" pitchFamily="34" charset="0"/>
                <a:cs typeface="Arial" pitchFamily="34" charset="-120"/>
              </a:rPr>
              <a:t>10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0" name="Text 0"/>
          <p:cNvSpPr txBox="1"/>
          <p:nvPr/>
        </p:nvSpPr>
        <p:spPr>
          <a:xfrm>
            <a:off x="123775" y="9594207"/>
            <a:ext cx="10290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2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11" name="Text 1"/>
          <p:cNvSpPr txBox="1"/>
          <p:nvPr/>
        </p:nvSpPr>
        <p:spPr>
          <a:xfrm>
            <a:off x="679950" y="491775"/>
            <a:ext cx="16930800" cy="87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 3: Мелкие операционные закупщики
</a:t>
            </a:r>
            <a:endParaRPr lang="en-US" sz="4500" dirty="0"/>
          </a:p>
        </p:txBody>
      </p:sp>
      <p:sp>
        <p:nvSpPr>
          <p:cNvPr id="12" name="Text 2"/>
          <p:cNvSpPr txBox="1"/>
          <p:nvPr/>
        </p:nvSpPr>
        <p:spPr>
          <a:xfrm>
            <a:off x="1089275" y="4469462"/>
            <a:ext cx="5112600" cy="196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2211" dirty="0"/>
              <a:t>Размер: 20,158 клиентов (15.7% от базы)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211" dirty="0"/>
          </a:p>
          <a:p>
            <a:pPr marL="0" indent="0" algn="l">
              <a:lnSpc>
                <a:spcPct val="100000"/>
              </a:lnSpc>
              <a:buNone/>
            </a:pPr>
            <a:r>
              <a:rPr lang="ru-RU" sz="2211" dirty="0"/>
              <a:t>ПРОФИЛЬ СЕГМЕНТА: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211" dirty="0"/>
              <a:t>   - </a:t>
            </a:r>
            <a:r>
              <a:rPr lang="en-US" sz="2211" dirty="0"/>
              <a:t>Channel: B2B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211" dirty="0"/>
              <a:t>   - Activity: </a:t>
            </a:r>
            <a:r>
              <a:rPr lang="ru-RU" sz="2211" dirty="0"/>
              <a:t>Очень высокая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211" dirty="0"/>
              <a:t>   - </a:t>
            </a:r>
            <a:r>
              <a:rPr lang="en-US" sz="2211" dirty="0"/>
              <a:t>Volume: </a:t>
            </a:r>
            <a:r>
              <a:rPr lang="ru-RU" sz="2211" dirty="0"/>
              <a:t>Средний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211" dirty="0"/>
              <a:t>   - </a:t>
            </a:r>
            <a:r>
              <a:rPr lang="en-US" sz="2211" dirty="0"/>
              <a:t>Margin Status: </a:t>
            </a:r>
            <a:r>
              <a:rPr lang="ru-RU" sz="2211" dirty="0"/>
              <a:t>Норма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211" dirty="0"/>
              <a:t>   - </a:t>
            </a:r>
            <a:r>
              <a:rPr lang="en-US" sz="2211" dirty="0"/>
              <a:t>Dynamics: </a:t>
            </a:r>
            <a:r>
              <a:rPr lang="ru-RU" sz="2211" dirty="0"/>
              <a:t>Стабильно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211" dirty="0"/>
          </a:p>
        </p:txBody>
      </p:sp>
      <p:sp>
        <p:nvSpPr>
          <p:cNvPr id="13" name="Text 3"/>
          <p:cNvSpPr txBox="1"/>
          <p:nvPr/>
        </p:nvSpPr>
        <p:spPr>
          <a:xfrm>
            <a:off x="1089275" y="3236915"/>
            <a:ext cx="5112600" cy="77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44" b="1" dirty="0">
                <a:solidFill>
                  <a:srgbClr val="0345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 ниже среднего, спрос — частый
</a:t>
            </a:r>
            <a:endParaRPr lang="en-US" sz="2644" dirty="0"/>
          </a:p>
        </p:txBody>
      </p:sp>
      <p:sp>
        <p:nvSpPr>
          <p:cNvPr id="14" name="Text 4"/>
          <p:cNvSpPr txBox="1"/>
          <p:nvPr/>
        </p:nvSpPr>
        <p:spPr>
          <a:xfrm>
            <a:off x="6793688" y="4480689"/>
            <a:ext cx="5112600" cy="196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2243" dirty="0"/>
              <a:t> КЛЮЧЕВЫЕ ЦИФРЫ: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243" dirty="0"/>
              <a:t>   - Средние продажи/день: 9,807 </a:t>
            </a:r>
            <a:r>
              <a:rPr lang="ru-RU" sz="2243" dirty="0" err="1"/>
              <a:t>руб</a:t>
            </a:r>
            <a:r>
              <a:rPr lang="ru-RU" sz="2243" dirty="0"/>
              <a:t> (-93.0%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243" dirty="0"/>
              <a:t>   - Маржинальность: 3.6% (+21.1%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243" dirty="0"/>
              <a:t>   - Дней с заказами: 63.1 (+42.6%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243" dirty="0"/>
              <a:t>   - Доля онлайн: 8.0%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243" dirty="0"/>
              <a:t>   - Доля </a:t>
            </a:r>
            <a:r>
              <a:rPr lang="ru-RU" sz="2243" dirty="0" err="1"/>
              <a:t>гос</a:t>
            </a:r>
            <a:r>
              <a:rPr lang="ru-RU" sz="2243" dirty="0"/>
              <a:t>: 0.3%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243" dirty="0"/>
              <a:t>   - Сезонность: 0.28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243" dirty="0"/>
              <a:t>   - Тренд: 0.58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243" dirty="0"/>
          </a:p>
        </p:txBody>
      </p:sp>
      <p:sp>
        <p:nvSpPr>
          <p:cNvPr id="15" name="Text 5"/>
          <p:cNvSpPr txBox="1"/>
          <p:nvPr/>
        </p:nvSpPr>
        <p:spPr>
          <a:xfrm>
            <a:off x="6793688" y="3188501"/>
            <a:ext cx="5112600" cy="77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44" b="1" dirty="0">
                <a:solidFill>
                  <a:srgbClr val="0345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Онлайн-канал присутствует и задает ритм
</a:t>
            </a:r>
            <a:endParaRPr lang="en-US" sz="2644" dirty="0"/>
          </a:p>
        </p:txBody>
      </p:sp>
      <p:sp>
        <p:nvSpPr>
          <p:cNvPr id="16" name="Text 6"/>
          <p:cNvSpPr txBox="1"/>
          <p:nvPr/>
        </p:nvSpPr>
        <p:spPr>
          <a:xfrm>
            <a:off x="12650500" y="4697527"/>
            <a:ext cx="5112600" cy="196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3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 интерпретирован через сочетание низкого среднего чека и длительных интервалов между заказами, из-за чего он чувствителен к автоматизации повторных продаж. Оптимальная стратегия — subscription model и автоматическое пополнение запасов по заранее заданным триггерам.
</a:t>
            </a:r>
            <a:endParaRPr lang="en-US" sz="1934" dirty="0"/>
          </a:p>
        </p:txBody>
      </p:sp>
      <p:sp>
        <p:nvSpPr>
          <p:cNvPr id="17" name="Text 7"/>
          <p:cNvSpPr txBox="1"/>
          <p:nvPr/>
        </p:nvSpPr>
        <p:spPr>
          <a:xfrm>
            <a:off x="12540844" y="3225547"/>
            <a:ext cx="5112600" cy="77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44" b="1" dirty="0">
                <a:solidFill>
                  <a:srgbClr val="0345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подписка и триггеры пополнения
</a:t>
            </a:r>
            <a:endParaRPr lang="en-US" sz="26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877900" y="391875"/>
            <a:ext cx="15158700" cy="107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 4: Крупные нерегулярные
</a:t>
            </a:r>
            <a:endParaRPr lang="en-US" sz="4500" dirty="0"/>
          </a:p>
        </p:txBody>
      </p:sp>
      <p:sp>
        <p:nvSpPr>
          <p:cNvPr id="7" name="Text 1"/>
          <p:cNvSpPr txBox="1"/>
          <p:nvPr/>
        </p:nvSpPr>
        <p:spPr>
          <a:xfrm>
            <a:off x="123775" y="9594207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2"/>
          <p:cNvSpPr txBox="1"/>
          <p:nvPr/>
        </p:nvSpPr>
        <p:spPr>
          <a:xfrm>
            <a:off x="1631000" y="4129966"/>
            <a:ext cx="7156200" cy="314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сегмента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бизнес-риски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Размер: 9,467 клиентов (7.4% от базы)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СЕГМЕНТА: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Channel: B2B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Activity: 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Крупный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Status: 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Dynamics: 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Стабильно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КЛЮЧЕВЫЕ ЦИФРЫ: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Средние продажи/день: 181,941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(+30.5%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Маржинальность: 2.4% (-18.8%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Дней с заказами: 12.6 (-71.6%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онлайн: 1.3%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0.1%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Сезонность: 0.24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Тренд: 0.43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800" dirty="0"/>
          </a:p>
        </p:txBody>
      </p:sp>
      <p:sp>
        <p:nvSpPr>
          <p:cNvPr id="9" name="Text 3"/>
          <p:cNvSpPr txBox="1"/>
          <p:nvPr/>
        </p:nvSpPr>
        <p:spPr>
          <a:xfrm>
            <a:off x="9612200" y="2061800"/>
            <a:ext cx="7156200" cy="314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Рекомендованные триггеры управления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 крупный по обороту, но низкая частота делает его кандидатом на churn. В коде это отражено как сочетание «высокий средний чек — редкие покупки»; значит, для контроля оттока нужны триггеры тишины более 30 дней.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18700" y="2248286"/>
            <a:ext cx="7725300" cy="684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</a:t>
            </a: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5: </a:t>
            </a:r>
            <a:r>
              <a:rPr lang="en-US" sz="4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Убыточные</a:t>
            </a: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Размер: 10,258 клиентов (8.0% от базы)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СЕГМЕНТА: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Channel: B2B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Activity: 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Status: 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Убыток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Dynamics: 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Стабильно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КЛЮЧЕВЫЕ ЦИФРЫ: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Средние продажи/день: 177,569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(+27.4%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Маржинальность: -5.2% (-275.2%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Дней с заказами: 4.0 (-90.9%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онлайн: 2.4%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0.0%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Сезонность: 0.28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Тренд: 0.41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4600" dirty="0"/>
          </a:p>
        </p:txBody>
      </p:sp>
      <p:sp>
        <p:nvSpPr>
          <p:cNvPr id="5" name="Text 1"/>
          <p:cNvSpPr txBox="1"/>
          <p:nvPr/>
        </p:nvSpPr>
        <p:spPr>
          <a:xfrm>
            <a:off x="123775" y="9594207"/>
            <a:ext cx="10290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10C5A-7186-4288-8AF4-7C42BFA84315}"/>
              </a:ext>
            </a:extLst>
          </p:cNvPr>
          <p:cNvSpPr txBox="1"/>
          <p:nvPr/>
        </p:nvSpPr>
        <p:spPr>
          <a:xfrm>
            <a:off x="9144000" y="6210209"/>
            <a:ext cx="86695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логике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разметки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возникает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сочетания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значимого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оборота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отрицательной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маржи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требуется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экономики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заказа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Рекомендуется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ценообразования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минимального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заказа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а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также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предоплату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плановый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ru-RU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 txBox="1"/>
          <p:nvPr/>
        </p:nvSpPr>
        <p:spPr>
          <a:xfrm>
            <a:off x="123775" y="9594207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1"/>
          <p:cNvSpPr txBox="1"/>
          <p:nvPr/>
        </p:nvSpPr>
        <p:spPr>
          <a:xfrm>
            <a:off x="1699750" y="1778965"/>
            <a:ext cx="7176000" cy="672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Размер: 14,013 клиентов (10.9% от базы)</a:t>
            </a:r>
          </a:p>
          <a:p>
            <a:pPr marL="0" indent="0" algn="l">
              <a:lnSpc>
                <a:spcPct val="115000"/>
              </a:lnSpc>
              <a:buNone/>
            </a:pPr>
            <a:endParaRPr lang="ru-RU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ПРОФИЛЬ СЕГМЕНТА: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Channel: Онлайн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</a:t>
            </a:r>
            <a:r>
              <a:rPr lang="ru-RU" sz="2400" dirty="0" err="1"/>
              <a:t>Activity</a:t>
            </a:r>
            <a:r>
              <a:rPr lang="ru-RU" sz="2400" dirty="0"/>
              <a:t>: Средняя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</a:t>
            </a:r>
            <a:r>
              <a:rPr lang="ru-RU" sz="2400" dirty="0" err="1"/>
              <a:t>Volume</a:t>
            </a:r>
            <a:r>
              <a:rPr lang="ru-RU" sz="2400" dirty="0"/>
              <a:t>: Средний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</a:t>
            </a:r>
            <a:r>
              <a:rPr lang="ru-RU" sz="2400" dirty="0" err="1"/>
              <a:t>Margin</a:t>
            </a:r>
            <a:r>
              <a:rPr lang="ru-RU" sz="2400" dirty="0"/>
              <a:t> </a:t>
            </a:r>
            <a:r>
              <a:rPr lang="ru-RU" sz="2400" dirty="0" err="1"/>
              <a:t>Status</a:t>
            </a:r>
            <a:r>
              <a:rPr lang="ru-RU" sz="2400" dirty="0"/>
              <a:t>: Норма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Dynamics: Стабильно</a:t>
            </a:r>
          </a:p>
          <a:p>
            <a:pPr marL="0" indent="0" algn="l">
              <a:lnSpc>
                <a:spcPct val="115000"/>
              </a:lnSpc>
              <a:buNone/>
            </a:pPr>
            <a:endParaRPr lang="ru-RU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КЛЮЧЕВЫЕ ЦИФРЫ: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Средние продажи/день: 10,988 </a:t>
            </a:r>
            <a:r>
              <a:rPr lang="ru-RU" sz="2400" dirty="0" err="1"/>
              <a:t>руб</a:t>
            </a:r>
            <a:r>
              <a:rPr lang="ru-RU" sz="2400" dirty="0"/>
              <a:t> (-92.1% к базе)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Маржинальность: 4.4% (+48.6% к базе)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Дней с заказами: 41.0 (-7.4% к базе)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Доля онлайн: 10.8%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Доля </a:t>
            </a:r>
            <a:r>
              <a:rPr lang="ru-RU" sz="2400" dirty="0" err="1"/>
              <a:t>гос</a:t>
            </a:r>
            <a:r>
              <a:rPr lang="ru-RU" sz="2400" dirty="0"/>
              <a:t>: 0.2%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Сезонность: 0.28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   - Тренд: 0.52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10088993" y="5388273"/>
            <a:ext cx="7176000" cy="232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данного кластера в коде ключевым является заметно более высокая доля онлайн-продаж при сохранении умеренной маржинальности и длительных интервалов. Рекомендация направлена на снижение транзакционных затрат: мобильное приложение, чат-боты и персональные рекомендации.
</a:t>
            </a:r>
            <a:endParaRPr lang="en-US" sz="2800" dirty="0"/>
          </a:p>
        </p:txBody>
      </p:sp>
      <p:sp>
        <p:nvSpPr>
          <p:cNvPr id="9" name="Text 3"/>
          <p:cNvSpPr txBox="1"/>
          <p:nvPr/>
        </p:nvSpPr>
        <p:spPr>
          <a:xfrm>
            <a:off x="1699750" y="391875"/>
            <a:ext cx="15753600" cy="107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 6: Онлайн мелкий опт
</a:t>
            </a:r>
            <a:endParaRPr lang="en-US" sz="4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832650" y="376226"/>
            <a:ext cx="16622700" cy="165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 7: Крупные операционные закупщики
</a:t>
            </a:r>
            <a:endParaRPr lang="en-US" sz="4500" dirty="0"/>
          </a:p>
        </p:txBody>
      </p:sp>
      <p:sp>
        <p:nvSpPr>
          <p:cNvPr id="9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200" dirty="0"/>
          </a:p>
        </p:txBody>
      </p:sp>
      <p:sp>
        <p:nvSpPr>
          <p:cNvPr id="10" name="Text 2"/>
          <p:cNvSpPr txBox="1"/>
          <p:nvPr/>
        </p:nvSpPr>
        <p:spPr>
          <a:xfrm>
            <a:off x="832639" y="2757050"/>
            <a:ext cx="5092945" cy="165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Размер: 22,949 клиентов (17.9% от базы)</a:t>
            </a:r>
          </a:p>
          <a:p>
            <a:pPr marL="0" indent="0" algn="l">
              <a:lnSpc>
                <a:spcPct val="115000"/>
              </a:lnSpc>
              <a:buNone/>
            </a:pPr>
            <a:endParaRPr lang="ru-RU" sz="1889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ru-RU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СЕГМЕНТА: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Channel: B2B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Activity: </a:t>
            </a:r>
            <a:r>
              <a:rPr lang="ru-RU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Очень высокая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</a:t>
            </a:r>
            <a:r>
              <a:rPr lang="ru-RU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Status: </a:t>
            </a:r>
            <a:r>
              <a:rPr lang="ru-RU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en-US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Dynamics: </a:t>
            </a:r>
            <a:r>
              <a:rPr lang="ru-RU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Стабильно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89" dirty="0"/>
          </a:p>
        </p:txBody>
      </p:sp>
      <p:sp>
        <p:nvSpPr>
          <p:cNvPr id="11" name="Text 3"/>
          <p:cNvSpPr txBox="1"/>
          <p:nvPr/>
        </p:nvSpPr>
        <p:spPr>
          <a:xfrm>
            <a:off x="832638" y="5959250"/>
            <a:ext cx="5092945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Контрактное планирование как «узел» поставок
</a:t>
            </a:r>
            <a:endParaRPr lang="en-US" sz="2800" dirty="0"/>
          </a:p>
        </p:txBody>
      </p:sp>
      <p:sp>
        <p:nvSpPr>
          <p:cNvPr id="12" name="Text 4"/>
          <p:cNvSpPr txBox="1"/>
          <p:nvPr/>
        </p:nvSpPr>
        <p:spPr>
          <a:xfrm>
            <a:off x="12362405" y="2603921"/>
            <a:ext cx="5092945" cy="165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Данный кластер в коде трактуется как крупный операционный слой с высоким потенциалом для совместной оптимизации цепочек поставок. Предложение аналитики по запасам помогает синхронизировать отгрузки и уменьшать излишние страховые резервы без потери сервиса.
</a:t>
            </a:r>
            <a:endParaRPr lang="en-US" sz="2000" dirty="0"/>
          </a:p>
        </p:txBody>
      </p:sp>
      <p:sp>
        <p:nvSpPr>
          <p:cNvPr id="13" name="Text 5"/>
          <p:cNvSpPr txBox="1"/>
          <p:nvPr/>
        </p:nvSpPr>
        <p:spPr>
          <a:xfrm>
            <a:off x="12442763" y="6026479"/>
            <a:ext cx="5092945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запасов как общий KPI
</a:t>
            </a:r>
            <a:endParaRPr lang="en-US" sz="2800" dirty="0"/>
          </a:p>
        </p:txBody>
      </p:sp>
      <p:sp>
        <p:nvSpPr>
          <p:cNvPr id="14" name="Text 6"/>
          <p:cNvSpPr txBox="1"/>
          <p:nvPr/>
        </p:nvSpPr>
        <p:spPr>
          <a:xfrm>
            <a:off x="6501898" y="2645200"/>
            <a:ext cx="5092945" cy="165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1768" dirty="0"/>
              <a:t> КЛЮЧЕВЫЕ ЦИФРЫ: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768" dirty="0"/>
              <a:t>   - Средние продажи/день: 99,147 </a:t>
            </a:r>
            <a:r>
              <a:rPr lang="ru-RU" sz="1768" dirty="0" err="1"/>
              <a:t>руб</a:t>
            </a:r>
            <a:r>
              <a:rPr lang="ru-RU" sz="1768" dirty="0"/>
              <a:t> (-28.9% к базе)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768" dirty="0"/>
              <a:t>   - Маржинальность: 4.1% (+40.0% к базе)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768" dirty="0"/>
              <a:t>   - Дней с заказами: 78.2 (+76.6% к базе)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768" dirty="0"/>
              <a:t>   - Доля онлайн: 9.6%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768" dirty="0"/>
              <a:t>   - Доля </a:t>
            </a:r>
            <a:r>
              <a:rPr lang="ru-RU" sz="1768" dirty="0" err="1"/>
              <a:t>гос</a:t>
            </a:r>
            <a:r>
              <a:rPr lang="ru-RU" sz="1768" dirty="0"/>
              <a:t>: 0.2%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768" dirty="0"/>
              <a:t>   - Сезонность: 0.32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768" dirty="0"/>
              <a:t>   - Тренд: 0.68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1768" dirty="0"/>
          </a:p>
        </p:txBody>
      </p:sp>
      <p:sp>
        <p:nvSpPr>
          <p:cNvPr id="15" name="Text 7"/>
          <p:cNvSpPr txBox="1"/>
          <p:nvPr/>
        </p:nvSpPr>
        <p:spPr>
          <a:xfrm>
            <a:off x="6597527" y="5978350"/>
            <a:ext cx="5092945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вместо ручного согласования
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75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27925" y="2187625"/>
            <a:ext cx="7894800" cy="677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Размер: 13,964 клиентов (10.9% от базы)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СЕГМЕНТА: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Channel: B2B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Очень высокая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Крупный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Норма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Dynamics: Стабильно</a:t>
            </a:r>
          </a:p>
          <a:p>
            <a:pPr marL="0" indent="0" algn="l">
              <a:lnSpc>
                <a:spcPct val="100000"/>
              </a:lnSpc>
              <a:buNone/>
            </a:pP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КЛЮЧЕВЫЕ ЦИФРЫ: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Средние продажи/день: 188,758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(+35.4%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Маржинальность: 5.1% (+71.6%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Дней с заказами: 77.3 (+74.5% к базе)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онлайн: 15.7%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Доля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0.7%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Сезонность: 0.41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Тренд: 0.61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123775" y="9594207"/>
            <a:ext cx="10290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1679325" y="783275"/>
            <a:ext cx="7039800" cy="107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1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 8: VIP-партнеры
</a:t>
            </a:r>
            <a:endParaRPr lang="en-US" sz="451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08865-D7FF-456B-864D-872C0A1A6D6F}"/>
              </a:ext>
            </a:extLst>
          </p:cNvPr>
          <p:cNvSpPr txBox="1"/>
          <p:nvPr/>
        </p:nvSpPr>
        <p:spPr>
          <a:xfrm>
            <a:off x="9376229" y="4913389"/>
            <a:ext cx="72281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Приоритетная</a:t>
            </a: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операционная</a:t>
            </a: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</a:t>
            </a: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выделен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высокоценный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обороту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марже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повышенной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вовлеченности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управленческая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удержание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качества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сервиса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финансовых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условий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приоритетная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отгрузка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гибкие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платежи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совместный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подкрепленные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мониторингом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прогнозной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75" y="0"/>
            <a:ext cx="18288000" cy="10287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23775" y="9536150"/>
            <a:ext cx="10290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1679325" y="865850"/>
            <a:ext cx="14097704" cy="107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451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Наглядное сравнение центральных параметров кластеров</a:t>
            </a:r>
            <a:r>
              <a:rPr lang="en-US" sz="451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451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38E641-6CFD-4950-B136-61BB9246B2F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004" y="1820174"/>
            <a:ext cx="11240911" cy="7715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3851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773" y="3063875"/>
            <a:ext cx="16483054" cy="62847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57150" y="428975"/>
            <a:ext cx="16488300" cy="13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Кросс-кластерные правила управления
</a:t>
            </a:r>
            <a:endParaRPr lang="en-US" sz="4500" dirty="0"/>
          </a:p>
        </p:txBody>
      </p:sp>
      <p:sp>
        <p:nvSpPr>
          <p:cNvPr id="5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957150" y="1729775"/>
            <a:ext cx="16488300" cy="133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соответствия «кластер → управленческое действие» формируется в коде как итоговая таблица правил
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3325" y="2371249"/>
            <a:ext cx="9042900" cy="5744901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703325" y="8881500"/>
            <a:ext cx="9042900" cy="24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41"/>
              </a:lnSpc>
              <a:buNone/>
            </a:pPr>
            <a:r>
              <a:rPr lang="en-US" sz="1292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сравнение сегментных порогов и расчет эффекта в коде
</a:t>
            </a:r>
            <a:endParaRPr lang="en-US" sz="1292" dirty="0"/>
          </a:p>
        </p:txBody>
      </p:sp>
      <p:sp>
        <p:nvSpPr>
          <p:cNvPr id="6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382425" y="1918950"/>
            <a:ext cx="8069100" cy="66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317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эффект кластерной стратегии
</a:t>
            </a:r>
            <a:r>
              <a:rPr lang="en-US" sz="375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2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Оценка выполнена сравнением текущего профиля сегментов с целевыми управленческими порогами. Метрики отражают сдвиги в маржинальности, удержании, стоимости обслуживания, точности агрегированного прогноза и доле убыточных контрактов до и после корректировок.
</a:t>
            </a:r>
            <a:r>
              <a:rPr lang="en-US" sz="24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2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Кластерные правила нацелены на управляемое улучшение агрегированных финансовых показателей: рост маржи и удержания при снижении стоимости сервиса и доли убыточных контрактов.
</a:t>
            </a:r>
            <a:endParaRPr lang="en-US" sz="431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774600" y="807050"/>
            <a:ext cx="15199800" cy="114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к задаче прогнозирования выручки
</a:t>
            </a:r>
            <a:endParaRPr lang="en-US" sz="4600" dirty="0"/>
          </a:p>
        </p:txBody>
      </p:sp>
      <p:sp>
        <p:nvSpPr>
          <p:cNvPr id="5" name="Text 1"/>
          <p:cNvSpPr txBox="1"/>
          <p:nvPr/>
        </p:nvSpPr>
        <p:spPr>
          <a:xfrm>
            <a:off x="2622300" y="5969864"/>
            <a:ext cx="6046800" cy="266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45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целевой переменной резко асимметрично, поэтому применены лог-трансформация и квантильная регрессия. В коде выполняются подготовка временного ряда, разделение train/test и первичная проверка базовой формы распределения цели.
</a:t>
            </a:r>
            <a:endParaRPr lang="en-US" sz="2445" dirty="0"/>
          </a:p>
        </p:txBody>
      </p:sp>
      <p:sp>
        <p:nvSpPr>
          <p:cNvPr id="6" name="Text 2"/>
          <p:cNvSpPr txBox="1"/>
          <p:nvPr/>
        </p:nvSpPr>
        <p:spPr>
          <a:xfrm>
            <a:off x="2622300" y="2134996"/>
            <a:ext cx="6046800" cy="266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прогноза использован массив 418 553 записей: 1 865 клиентов и 2 склада в периоде наблюдения 2021-01-01—2023-01-31. Целевая переменная — TARGET_sum_cost_rub с диапазоном 481—5 208 389 521 руб.
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10303771" y="1746800"/>
            <a:ext cx="6046800" cy="266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8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цель — прогнозировать выручку на горизонте 30 дней с учетом того, что точность отдельного предсказания недостаточна для производственного планирования. Модель оптимизируется так, чтобы корректно работать с агрегированным bias и покрытием доверительного интервала.
</a:t>
            </a:r>
            <a:endParaRPr lang="en-US" sz="2280" dirty="0"/>
          </a:p>
        </p:txBody>
      </p:sp>
      <p:sp>
        <p:nvSpPr>
          <p:cNvPr id="8" name="Text 4"/>
          <p:cNvSpPr txBox="1"/>
          <p:nvPr/>
        </p:nvSpPr>
        <p:spPr>
          <a:xfrm>
            <a:off x="123775" y="9594207"/>
            <a:ext cx="10290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200" b="1" dirty="0">
                <a:solidFill>
                  <a:srgbClr val="D9D9D9"/>
                </a:solidFill>
                <a:latin typeface="Arial" pitchFamily="34" charset="0"/>
                <a:cs typeface="Arial" pitchFamily="34" charset="-120"/>
              </a:rPr>
              <a:t>20</a:t>
            </a:r>
            <a:endParaRPr lang="en-US" sz="2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A5DEC0-50EE-4A29-896A-F0DE51C83F94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87" b="54326"/>
          <a:stretch/>
        </p:blipFill>
        <p:spPr bwMode="auto">
          <a:xfrm>
            <a:off x="10299457" y="5352950"/>
            <a:ext cx="6358186" cy="42535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475" y="3319304"/>
            <a:ext cx="8493000" cy="462119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57150" y="428975"/>
            <a:ext cx="14362200" cy="151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Бизнес-словарь признаков прогноза
</a:t>
            </a:r>
            <a:endParaRPr lang="en-US" sz="4500" dirty="0"/>
          </a:p>
        </p:txBody>
      </p:sp>
      <p:sp>
        <p:nvSpPr>
          <p:cNvPr id="5" name="Text 1"/>
          <p:cNvSpPr txBox="1"/>
          <p:nvPr/>
        </p:nvSpPr>
        <p:spPr>
          <a:xfrm>
            <a:off x="10254875" y="2305150"/>
            <a:ext cx="7728300" cy="563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41"/>
              </a:lnSpc>
              <a:buNone/>
            </a:pPr>
            <a:r>
              <a:rPr lang="en-US" sz="24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Признаки описывают временную ось, календарный эффект, клиентскую и складскую привязку, физические характеристики заказа и целевую стоимость. В коде эти поля применяются для фичеинжиниринга, индексации по датам и формирования лаговых зависимостей.
</a:t>
            </a:r>
            <a:r>
              <a:rPr lang="en-US" sz="307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Комбинация календарных признаков и физических параметров заказа формирует устойчивую основу для лаговых и агрегированных фичей. Лог-трансформация цели необходима из‑за тяжелых хвостов распределения и сильной асимметрии.
</a:t>
            </a:r>
            <a:endParaRPr lang="en-US" sz="2405" dirty="0"/>
          </a:p>
        </p:txBody>
      </p:sp>
      <p:sp>
        <p:nvSpPr>
          <p:cNvPr id="6" name="Text 2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9645375" y="8170450"/>
            <a:ext cx="62919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41"/>
              </a:lnSpc>
              <a:buNone/>
            </a:pPr>
            <a:r>
              <a:rPr lang="en-US" sz="2000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исходные поля salesTest_cust_loc_HIKPI_20230414
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3325" y="3832153"/>
            <a:ext cx="9042900" cy="282309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703325" y="8881500"/>
            <a:ext cx="9042900" cy="24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41"/>
              </a:lnSpc>
              <a:buNone/>
            </a:pPr>
            <a:r>
              <a:rPr lang="en-US" sz="1292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describe(), skew(), kurtosis() по массиву salesTest_cust_loc_HIKPI_20230414 (418 553 записей)
</a:t>
            </a:r>
            <a:endParaRPr lang="en-US" sz="1292" dirty="0"/>
          </a:p>
        </p:txBody>
      </p:sp>
      <p:sp>
        <p:nvSpPr>
          <p:cNvPr id="6" name="Text 1"/>
          <p:cNvSpPr txBox="1"/>
          <p:nvPr/>
        </p:nvSpPr>
        <p:spPr>
          <a:xfrm>
            <a:off x="123775" y="9594207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382425" y="1918950"/>
            <a:ext cx="8069100" cy="66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Статистики целевых и физических признаков
</a:t>
            </a: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Распределения выручки и физических параметров характеризуются выраженной асимметрией и тяжёлыми хвостами: на это указывают высокие значения skewness и kurtosis, а также большие коэффициенты вариации.
</a:t>
            </a: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нелинейность и редкие крупные заказы требуют лог-трансформации цели и квантильной постановки оптимизации для устойчивого бюджетного прогноза.
</a:t>
            </a:r>
            <a:endParaRPr lang="en-US" sz="4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475" y="4187339"/>
            <a:ext cx="8493000" cy="288512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57150" y="428975"/>
            <a:ext cx="14362200" cy="151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Календарный и складской профиль продаж
</a:t>
            </a:r>
            <a:endParaRPr lang="en-US" sz="4500" dirty="0"/>
          </a:p>
        </p:txBody>
      </p:sp>
      <p:sp>
        <p:nvSpPr>
          <p:cNvPr id="5" name="Text 1"/>
          <p:cNvSpPr txBox="1"/>
          <p:nvPr/>
        </p:nvSpPr>
        <p:spPr>
          <a:xfrm>
            <a:off x="10254875" y="2305150"/>
            <a:ext cx="7728300" cy="563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41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 заметно различаются по рабочим и нерабочим дням, а также имеют складские различия. Профиль построен по WORKING_DAY и LOC, что фиксирует календарный и территориальный перекос.
</a:t>
            </a: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 и логистика объясняют часть вариативности: учёт WORKING_DAY и LOC в фичах снижает риск систематических ошибок на разных режимах спроса.
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123775" y="9594207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9645375" y="8170450"/>
            <a:ext cx="62919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41"/>
              </a:lnSpc>
              <a:buNone/>
            </a:pPr>
            <a:r>
              <a:rPr lang="en-US" sz="2000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Группировка по WORKING_DAY и LOC в salesTest_cust_loc_HIKPI_20230414
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23775" y="9594207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349250" y="2011300"/>
            <a:ext cx="8918400" cy="66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Корреляции объема, веса и выручки
</a:t>
            </a: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Высокие корреляции указывают, что физические характеристики заказа практически дублируют информацию о стоимости, поэтому их лаги и агрегаты полезны для точного прогноза.
</a:t>
            </a: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ru-RU" sz="2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линейная связь volume/weight с TARGET поддерживает стратегию включения физических фич и лагов в инженерии признаков, повышая информативность модели без усложнения.
</a:t>
            </a:r>
            <a:endParaRPr lang="en-US" sz="46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67189D8-379A-44DC-BF16-919E99866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526" y="5336050"/>
            <a:ext cx="10554389" cy="13488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50" y="677169"/>
            <a:ext cx="16483054" cy="62847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57150" y="428975"/>
            <a:ext cx="16488300" cy="13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Инженерия признаков для 30-дневного прогноза
</a:t>
            </a:r>
            <a:endParaRPr lang="en-US" sz="4500" dirty="0"/>
          </a:p>
        </p:txBody>
      </p:sp>
      <p:sp>
        <p:nvSpPr>
          <p:cNvPr id="5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957150" y="1729775"/>
            <a:ext cx="16488300" cy="133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Формирование обучающей матрицы из временных, календарных, лаговых, скользящих, клиентских/складских и физических признаков; цель предварительно логарифмируется.
</a:t>
            </a:r>
            <a:endParaRPr lang="en-US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DBCF89-C64F-41B1-B488-BD0B3E813783}"/>
              </a:ext>
            </a:extLst>
          </p:cNvPr>
          <p:cNvSpPr txBox="1"/>
          <p:nvPr/>
        </p:nvSpPr>
        <p:spPr>
          <a:xfrm>
            <a:off x="2196115" y="4836397"/>
            <a:ext cx="137759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Всего признаков: 49</a:t>
            </a:r>
          </a:p>
          <a:p>
            <a:r>
              <a:rPr lang="ru-RU" dirty="0"/>
              <a:t>    Категории признаков:</a:t>
            </a:r>
          </a:p>
          <a:p>
            <a:r>
              <a:rPr lang="ru-RU" dirty="0"/>
              <a:t>      </a:t>
            </a:r>
          </a:p>
          <a:p>
            <a:r>
              <a:rPr lang="ru-RU" dirty="0"/>
              <a:t>• Временные: ['</a:t>
            </a:r>
            <a:r>
              <a:rPr lang="en-US" dirty="0" err="1"/>
              <a:t>day_of_week</a:t>
            </a:r>
            <a:r>
              <a:rPr lang="en-US" dirty="0"/>
              <a:t>', 'month', '</a:t>
            </a:r>
            <a:r>
              <a:rPr lang="en-US" dirty="0" err="1"/>
              <a:t>day_of_month</a:t>
            </a:r>
            <a:r>
              <a:rPr lang="en-US" dirty="0"/>
              <a:t>', '</a:t>
            </a:r>
            <a:r>
              <a:rPr lang="en-US" dirty="0" err="1"/>
              <a:t>day_of_year</a:t>
            </a:r>
            <a:r>
              <a:rPr lang="en-US" dirty="0"/>
              <a:t>', '</a:t>
            </a:r>
            <a:r>
              <a:rPr lang="en-US" dirty="0" err="1"/>
              <a:t>is_weekend</a:t>
            </a:r>
            <a:r>
              <a:rPr lang="en-US" dirty="0"/>
              <a:t>']...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• </a:t>
            </a:r>
            <a:r>
              <a:rPr lang="ru-RU" dirty="0"/>
              <a:t>Лаги: ['</a:t>
            </a:r>
            <a:r>
              <a:rPr lang="en-US" dirty="0"/>
              <a:t>lag_target_1d', 'lag_target_7d', 'lag_target_14d', 'lag_target_30d']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• </a:t>
            </a:r>
            <a:r>
              <a:rPr lang="ru-RU" dirty="0"/>
              <a:t>Скользящие статистики: ['</a:t>
            </a:r>
            <a:r>
              <a:rPr lang="en-US" dirty="0"/>
              <a:t>roll_mean_7d', 'roll_std_7d', 'roll_min_7d', 'roll_max_7d']...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• </a:t>
            </a:r>
            <a:r>
              <a:rPr lang="ru-RU" dirty="0"/>
              <a:t>Агрегаты: ['</a:t>
            </a:r>
            <a:r>
              <a:rPr lang="en-US" dirty="0" err="1"/>
              <a:t>dow_sin</a:t>
            </a:r>
            <a:r>
              <a:rPr lang="en-US" dirty="0"/>
              <a:t>', '</a:t>
            </a:r>
            <a:r>
              <a:rPr lang="en-US" dirty="0" err="1"/>
              <a:t>dow_cos</a:t>
            </a:r>
            <a:r>
              <a:rPr lang="en-US" dirty="0"/>
              <a:t>', '</a:t>
            </a:r>
            <a:r>
              <a:rPr lang="en-US" dirty="0" err="1"/>
              <a:t>client_mean_sales</a:t>
            </a:r>
            <a:r>
              <a:rPr lang="en-US" dirty="0"/>
              <a:t>', '</a:t>
            </a:r>
            <a:r>
              <a:rPr lang="en-US" dirty="0" err="1"/>
              <a:t>client_std_sales</a:t>
            </a:r>
            <a:r>
              <a:rPr lang="en-US" dirty="0"/>
              <a:t>', '</a:t>
            </a:r>
            <a:r>
              <a:rPr lang="en-US" dirty="0" err="1"/>
              <a:t>client_median_sales</a:t>
            </a:r>
            <a:r>
              <a:rPr lang="en-US" dirty="0"/>
              <a:t>', '</a:t>
            </a:r>
            <a:r>
              <a:rPr lang="en-US" dirty="0" err="1"/>
              <a:t>client_order_count</a:t>
            </a:r>
            <a:r>
              <a:rPr lang="en-US" dirty="0"/>
              <a:t>', '</a:t>
            </a:r>
            <a:r>
              <a:rPr lang="en-US" dirty="0" err="1"/>
              <a:t>warehouse_mean_sales</a:t>
            </a:r>
            <a:r>
              <a:rPr lang="en-US" dirty="0"/>
              <a:t>', '</a:t>
            </a:r>
            <a:r>
              <a:rPr lang="en-US" dirty="0" err="1"/>
              <a:t>warehouse_std_sales</a:t>
            </a:r>
            <a:r>
              <a:rPr lang="en-US" dirty="0"/>
              <a:t>', '</a:t>
            </a:r>
            <a:r>
              <a:rPr lang="en-US" dirty="0" err="1"/>
              <a:t>dow_mean_sales</a:t>
            </a:r>
            <a:r>
              <a:rPr lang="en-US" dirty="0"/>
              <a:t>'] – </a:t>
            </a:r>
            <a:r>
              <a:rPr lang="ru-RU" dirty="0"/>
              <a:t>циклические статистики (сохраняет близость декабрь=</a:t>
            </a:r>
            <a:r>
              <a:rPr lang="en-US" dirty="0"/>
              <a:t>&gt;</a:t>
            </a:r>
            <a:r>
              <a:rPr lang="ru-RU" dirty="0"/>
              <a:t>январь, воскресенье</a:t>
            </a:r>
            <a:r>
              <a:rPr lang="en-US" dirty="0"/>
              <a:t>=&gt;</a:t>
            </a:r>
            <a:r>
              <a:rPr lang="ru-RU" dirty="0"/>
              <a:t>понедельник)</a:t>
            </a:r>
          </a:p>
          <a:p>
            <a:r>
              <a:rPr lang="ru-RU" dirty="0"/>
              <a:t>      </a:t>
            </a:r>
          </a:p>
          <a:p>
            <a:r>
              <a:rPr lang="ru-RU" dirty="0"/>
              <a:t>• Физические: ['</a:t>
            </a:r>
            <a:r>
              <a:rPr lang="en-US" dirty="0" err="1"/>
              <a:t>sum_amn_volume</a:t>
            </a:r>
            <a:r>
              <a:rPr lang="en-US" dirty="0"/>
              <a:t>', '</a:t>
            </a:r>
            <a:r>
              <a:rPr lang="en-US" dirty="0" err="1"/>
              <a:t>sum_amn_weight</a:t>
            </a:r>
            <a:r>
              <a:rPr lang="en-US" dirty="0"/>
              <a:t>', '</a:t>
            </a:r>
            <a:r>
              <a:rPr lang="en-US" dirty="0" err="1"/>
              <a:t>cost_per_volume</a:t>
            </a:r>
            <a:r>
              <a:rPr lang="en-US" dirty="0"/>
              <a:t>', '</a:t>
            </a:r>
            <a:r>
              <a:rPr lang="en-US" dirty="0" err="1"/>
              <a:t>cost_per_weight</a:t>
            </a:r>
            <a:r>
              <a:rPr lang="en-US" dirty="0"/>
              <a:t>', 'lag_volume_1d', 'lag_weight_1d', 'lag_volume_7d', 'lag_weight_7d']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95" y="2985284"/>
            <a:ext cx="835200" cy="66816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462" y="2915264"/>
            <a:ext cx="808200" cy="808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009" y="6708251"/>
            <a:ext cx="835200" cy="6681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479" y="6638231"/>
            <a:ext cx="808200" cy="8082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832650" y="-56980"/>
            <a:ext cx="16622700" cy="162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аспекты LightGBM квантильной регрессии
</a:t>
            </a:r>
            <a:endParaRPr lang="en-US" sz="4500" dirty="0"/>
          </a:p>
        </p:txBody>
      </p:sp>
      <p:sp>
        <p:nvSpPr>
          <p:cNvPr id="8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9" name="Text 2"/>
          <p:cNvSpPr txBox="1"/>
          <p:nvPr/>
        </p:nvSpPr>
        <p:spPr>
          <a:xfrm>
            <a:off x="1057075" y="3993125"/>
            <a:ext cx="78654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обучается на квантилях, а Pinball Loss задаёт асимметричное наказание: для α&gt;0.5 сильнее штрафуется недооценка выручки.
</a:t>
            </a:r>
            <a:endParaRPr lang="en-US" sz="2500" dirty="0"/>
          </a:p>
        </p:txBody>
      </p:sp>
      <p:sp>
        <p:nvSpPr>
          <p:cNvPr id="10" name="Text 3"/>
          <p:cNvSpPr txBox="1"/>
          <p:nvPr/>
        </p:nvSpPr>
        <p:spPr>
          <a:xfrm>
            <a:off x="2186875" y="2996125"/>
            <a:ext cx="6735600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objective='quantile'
</a:t>
            </a:r>
            <a:endParaRPr lang="en-US" sz="3200" dirty="0"/>
          </a:p>
        </p:txBody>
      </p:sp>
      <p:sp>
        <p:nvSpPr>
          <p:cNvPr id="11" name="Text 4"/>
          <p:cNvSpPr txBox="1"/>
          <p:nvPr/>
        </p:nvSpPr>
        <p:spPr>
          <a:xfrm>
            <a:off x="9794275" y="3993175"/>
            <a:ext cx="78654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Квантиль подбирается перебором значений α, чтобы оптимизировать не только ошибку, но и смещение агрегированной суммы прогноза относительно факта.
</a:t>
            </a:r>
            <a:endParaRPr lang="en-US" sz="2500" dirty="0"/>
          </a:p>
        </p:txBody>
      </p:sp>
      <p:sp>
        <p:nvSpPr>
          <p:cNvPr id="12" name="Text 5"/>
          <p:cNvSpPr txBox="1"/>
          <p:nvPr/>
        </p:nvSpPr>
        <p:spPr>
          <a:xfrm>
            <a:off x="11030275" y="2980825"/>
            <a:ext cx="6629400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Перебор α=0.50–0.55
</a:t>
            </a:r>
            <a:endParaRPr lang="en-US" sz="3200" dirty="0"/>
          </a:p>
        </p:txBody>
      </p:sp>
      <p:sp>
        <p:nvSpPr>
          <p:cNvPr id="13" name="Text 6"/>
          <p:cNvSpPr txBox="1"/>
          <p:nvPr/>
        </p:nvSpPr>
        <p:spPr>
          <a:xfrm>
            <a:off x="1057075" y="7758600"/>
            <a:ext cx="78654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обучением TARGET_sum_cost_rub логарифмируется; затем прогноз возвращается в исходную шкалу через обратную трансформацию exp(x)-1.
</a:t>
            </a:r>
            <a:endParaRPr lang="en-US" sz="2500" dirty="0"/>
          </a:p>
        </p:txBody>
      </p:sp>
      <p:sp>
        <p:nvSpPr>
          <p:cNvPr id="14" name="Text 7"/>
          <p:cNvSpPr txBox="1"/>
          <p:nvPr/>
        </p:nvSpPr>
        <p:spPr>
          <a:xfrm>
            <a:off x="2186875" y="6703775"/>
            <a:ext cx="6735600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Логарифмирование цели
</a:t>
            </a:r>
            <a:endParaRPr lang="en-US" sz="3200" dirty="0"/>
          </a:p>
        </p:txBody>
      </p:sp>
      <p:sp>
        <p:nvSpPr>
          <p:cNvPr id="15" name="Text 8"/>
          <p:cNvSpPr txBox="1"/>
          <p:nvPr/>
        </p:nvSpPr>
        <p:spPr>
          <a:xfrm>
            <a:off x="9794275" y="7758600"/>
            <a:ext cx="78654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результатов проводится по MAPE/SMAPE, Aggregate Bias и покрытию доверительного коридора, чтобы обеспечить операционную применимость без пост-калибровки.
</a:t>
            </a:r>
            <a:endParaRPr lang="en-US" sz="2500" dirty="0"/>
          </a:p>
        </p:txBody>
      </p:sp>
      <p:sp>
        <p:nvSpPr>
          <p:cNvPr id="16" name="Text 9"/>
          <p:cNvSpPr txBox="1"/>
          <p:nvPr/>
        </p:nvSpPr>
        <p:spPr>
          <a:xfrm>
            <a:off x="11030275" y="6703775"/>
            <a:ext cx="6629400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Bias и Coverage
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23775" y="9594207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9F2899-87A8-4634-A793-3E4E55512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467" y="1075507"/>
            <a:ext cx="10641476" cy="846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38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0372575" y="9023150"/>
            <a:ext cx="6911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41"/>
              </a:lnSpc>
              <a:buNone/>
            </a:pPr>
            <a:r>
              <a:rPr lang="en-US" sz="1957" dirty="0">
                <a:solidFill>
                  <a:srgbClr val="2A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quantile regression; перебор alpha 0.50–0.55 (без seasonality_class)
</a:t>
            </a:r>
            <a:endParaRPr lang="en-US" sz="1957" dirty="0"/>
          </a:p>
        </p:txBody>
      </p:sp>
      <p:sp>
        <p:nvSpPr>
          <p:cNvPr id="6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610507" y="2214500"/>
            <a:ext cx="8918400" cy="66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оптимального alpha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46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сдвиге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квантиля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α=0.50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α=0.52 bias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меняется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-0.76% к -0.07%,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близких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уровней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MAPE и Coverage.
</a:t>
            </a: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Сдвиг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α&gt;0.5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компенсирует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систематическое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занижение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улучшает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бюджетную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согласованность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прогноза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ухудшения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точности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уровне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процентов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
</a:t>
            </a:r>
            <a:endParaRPr lang="en-US" sz="4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5B1BEAD-7187-438D-BE99-D5A833537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07" y="3120571"/>
            <a:ext cx="10650095" cy="183754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83AD99A-9A5F-40C1-9A89-9134D1E22772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85" b="51282"/>
          <a:stretch/>
        </p:blipFill>
        <p:spPr bwMode="auto">
          <a:xfrm>
            <a:off x="10372575" y="3773714"/>
            <a:ext cx="7699816" cy="49061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610507" y="2193800"/>
            <a:ext cx="8918400" cy="66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</a:t>
            </a: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40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Калибровка выявила оптимальный квантиль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=0.52. Базовая модель (α=0.50) давала систематическое занижение на -0.76%, что в масштабах годовой выручки приводило к недооценке бюджета и риску дефицита складских остатков. Применение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=0.52 сократило смещение до -0.07%, что фактически означает нейтральный баланс «прогноз = факт» на уровне компании. При этом MAPE остался на уровне 2.89%, а покрытие коридора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</a:t>
            </a: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достигло 98.3%. Медианный MAPE по клиентам 2.25% и покрытие 100% подтверждают, что улучшение агрегата достигнуто за счет коррекции распределения, а не за счет «размазывания» ошибки. Для операционного планирования это означает: 96.4% клиентов попадают в допустимый диапазон отклонения, что минимизирует необходимость ручной корректировки прогнозов менеджерами.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4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7A04BBF-44A0-47BB-B8F6-6FF0447ED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894" y="2965232"/>
            <a:ext cx="10993659" cy="16169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E1C8B53-04B1-4849-BC76-FC1E9005DE46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46"/>
          <a:stretch/>
        </p:blipFill>
        <p:spPr bwMode="auto">
          <a:xfrm>
            <a:off x="10723176" y="517450"/>
            <a:ext cx="6561099" cy="47382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8A53A2C-AD91-402F-9142-4F9F69BE11D8}"/>
              </a:ext>
            </a:extLst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77" t="47828" b="1"/>
          <a:stretch/>
        </p:blipFill>
        <p:spPr bwMode="auto">
          <a:xfrm>
            <a:off x="10303144" y="5255693"/>
            <a:ext cx="7374349" cy="4598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6985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75" y="-76194"/>
            <a:ext cx="18288000" cy="1028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59" y="2710112"/>
            <a:ext cx="808200" cy="808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009" y="6708251"/>
            <a:ext cx="835200" cy="6681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479" y="6638231"/>
            <a:ext cx="808200" cy="8082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440765" y="193038"/>
            <a:ext cx="16622700" cy="162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качества </a:t>
            </a:r>
            <a:r>
              <a:rPr lang="en-US" sz="45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квантильной регрессии
</a:t>
            </a:r>
            <a:endParaRPr lang="en-US" sz="4500" dirty="0"/>
          </a:p>
        </p:txBody>
      </p:sp>
      <p:sp>
        <p:nvSpPr>
          <p:cNvPr id="8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9" name="Text 2"/>
          <p:cNvSpPr txBox="1"/>
          <p:nvPr/>
        </p:nvSpPr>
        <p:spPr>
          <a:xfrm>
            <a:off x="923559" y="3689744"/>
            <a:ext cx="78654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Тип модели: </a:t>
            </a:r>
            <a:r>
              <a:rPr lang="ru-RU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Quantile</a:t>
            </a: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ru-RU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Целевой квантиль: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ru-RU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0.52 </a:t>
            </a: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(оптимизирован под минимизацию смещения агрегата)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Горизонт прогноза: 30 дней (2023-01-01 — 2023-01-31)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Объём тестовой выборки: 19,949 записей по 1,299 клиентам и 2 складам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Целевая переменная: </a:t>
            </a:r>
            <a:r>
              <a:rPr lang="ru-RU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TARGET_sum_cost_rub</a:t>
            </a: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(с лог-трансформацией при обучении)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dirty="0"/>
          </a:p>
        </p:txBody>
      </p:sp>
      <p:sp>
        <p:nvSpPr>
          <p:cNvPr id="10" name="Text 3"/>
          <p:cNvSpPr txBox="1"/>
          <p:nvPr/>
        </p:nvSpPr>
        <p:spPr>
          <a:xfrm>
            <a:off x="1845349" y="2743619"/>
            <a:ext cx="6735600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ОБЩИЕ СВЕДЕНИЯ О МОДЕЛИ</a:t>
            </a:r>
          </a:p>
        </p:txBody>
      </p:sp>
      <p:sp>
        <p:nvSpPr>
          <p:cNvPr id="11" name="Text 4"/>
          <p:cNvSpPr txBox="1"/>
          <p:nvPr/>
        </p:nvSpPr>
        <p:spPr>
          <a:xfrm>
            <a:off x="9692003" y="2346284"/>
            <a:ext cx="78654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ru-RU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 (Средняя абсолютная процентная ошибка): 2.89%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Интерпретация: В среднем прогноз отклоняется от факта на ~2.9 </a:t>
            </a:r>
            <a:r>
              <a:rPr lang="ru-RU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</a:t>
            </a: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каждые 100 </a:t>
            </a:r>
            <a:r>
              <a:rPr lang="ru-RU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</a:t>
            </a: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продаж.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Оценка:  Отлично (&lt;5%)</a:t>
            </a:r>
          </a:p>
          <a:p>
            <a:pPr marL="0" indent="0" algn="l">
              <a:lnSpc>
                <a:spcPct val="115000"/>
              </a:lnSpc>
              <a:buNone/>
            </a:pPr>
            <a:endParaRPr lang="ru-RU" sz="1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ru-RU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SMAPE (Симметричная MAPE): 2.83%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Интерпретация: Устойчивая к нулевым/малым заказам метрика. Показывает сбалансированную ошибку.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Оценка:  Отлично (&lt;5%)</a:t>
            </a:r>
          </a:p>
          <a:p>
            <a:pPr marL="0" indent="0" algn="l">
              <a:lnSpc>
                <a:spcPct val="115000"/>
              </a:lnSpc>
              <a:buNone/>
            </a:pPr>
            <a:endParaRPr lang="ru-RU" sz="1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ru-RU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ru-RU" sz="1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r>
              <a:rPr lang="ru-RU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</a:t>
            </a:r>
            <a:r>
              <a:rPr lang="ru-RU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(Смещение агрегата): -0.07%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Интерпретация: Сумма прогнозов занижена относительно суммы факта на 0.07%.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Оценка:  Идеально (&lt;1%)</a:t>
            </a:r>
          </a:p>
          <a:p>
            <a:pPr marL="0" indent="0" algn="l">
              <a:lnSpc>
                <a:spcPct val="115000"/>
              </a:lnSpc>
              <a:buNone/>
            </a:pPr>
            <a:endParaRPr lang="ru-RU" sz="14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ru-RU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R-SQUARED (Коэффициент детерминации): 0.9171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Интерпретация: Модель объясняет 91.7% дисперсии продаж. Остальное — случайный шум или неучтённые факторы.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</p:txBody>
      </p:sp>
      <p:sp>
        <p:nvSpPr>
          <p:cNvPr id="12" name="Text 5"/>
          <p:cNvSpPr txBox="1"/>
          <p:nvPr/>
        </p:nvSpPr>
        <p:spPr>
          <a:xfrm>
            <a:off x="9813251" y="1948359"/>
            <a:ext cx="6629400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4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ГЛОБАЛЬНЫЕ МЕТРИКИ КАЧЕСТВА</a:t>
            </a:r>
            <a:r>
              <a:rPr lang="en-US" sz="24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  <p:sp>
        <p:nvSpPr>
          <p:cNvPr id="13" name="Text 6"/>
          <p:cNvSpPr txBox="1"/>
          <p:nvPr/>
        </p:nvSpPr>
        <p:spPr>
          <a:xfrm>
            <a:off x="1057075" y="7656350"/>
            <a:ext cx="78654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ru-RU" sz="16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r>
              <a:rPr lang="ru-RU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+-15% (по количеству заказов): 98.3%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- 98% из всех ежедневных заказов спрогнозированы с точностью +-15%.</a:t>
            </a:r>
          </a:p>
          <a:p>
            <a:pPr marL="0" indent="0" algn="l">
              <a:lnSpc>
                <a:spcPct val="115000"/>
              </a:lnSpc>
              <a:buNone/>
            </a:pPr>
            <a:endParaRPr lang="ru-RU" sz="16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ru-RU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ru-RU" sz="16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r>
              <a:rPr lang="ru-RU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+-15% (по объёму выручки): 87.0%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На 87.0% от общей выручки ошибка прогноза не превышает 15%.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Вывод:  Мелкие заказы вносят больший вклад в ошибку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2016515" y="6875747"/>
            <a:ext cx="6735600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4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БИЗНЕС-МЕТРИКИ</a:t>
            </a:r>
            <a:r>
              <a:rPr lang="en-US" sz="24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  <p:sp>
        <p:nvSpPr>
          <p:cNvPr id="15" name="Text 8"/>
          <p:cNvSpPr txBox="1"/>
          <p:nvPr/>
        </p:nvSpPr>
        <p:spPr>
          <a:xfrm>
            <a:off x="9794275" y="7656350"/>
            <a:ext cx="7865400" cy="187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2000" dirty="0"/>
              <a:t>- Всего активных клиентов в тесте: 1,299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000" dirty="0"/>
              <a:t>- Медианный MAPE клиента: 2.25%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000" dirty="0"/>
              <a:t>- Медианное покрытие +-15% клиента: 100.0%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000" dirty="0"/>
              <a:t>- Клиентов с покрытием &gt;80%: 1252 (96.4%)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ru-RU" sz="2000" dirty="0"/>
              <a:t>- Клиентов с покрытием &lt;50%: 12 (0.9%)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</p:txBody>
      </p:sp>
      <p:sp>
        <p:nvSpPr>
          <p:cNvPr id="16" name="Text 9"/>
          <p:cNvSpPr txBox="1"/>
          <p:nvPr/>
        </p:nvSpPr>
        <p:spPr>
          <a:xfrm>
            <a:off x="10674591" y="6925416"/>
            <a:ext cx="6629400" cy="67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4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НА УРОВНЕ КЛИЕНТОВ</a:t>
            </a:r>
            <a:r>
              <a:rPr lang="en-US" sz="24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338075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773" y="3063875"/>
            <a:ext cx="16483054" cy="62847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57150" y="428975"/>
            <a:ext cx="16488300" cy="13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Task: классификация сезонности клиент × склад
</a:t>
            </a:r>
            <a:endParaRPr lang="en-US" sz="4500" dirty="0"/>
          </a:p>
        </p:txBody>
      </p:sp>
      <p:sp>
        <p:nvSpPr>
          <p:cNvPr id="5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957150" y="1729775"/>
            <a:ext cx="16488300" cy="133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Формирование временных рядов по связке клиента и склада, извлечение сезонно-трендовых и статистических характеристик, последующая кластеризация признаков сезонности.
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638125" y="2442344"/>
            <a:ext cx="6749646" cy="3455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Task
</a:t>
            </a: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Назначить класс сезонности каждому </a:t>
            </a:r>
            <a:r>
              <a:rPr lang="ru-RU" sz="2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клиенту×складу</a:t>
            </a: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основе профиля продаж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ru-RU" sz="2400" dirty="0"/>
              <a:t>Для начала создадим уникальный идентификатор</a:t>
            </a:r>
            <a:r>
              <a:rPr lang="en-US" sz="2400" dirty="0"/>
              <a:t>.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2400" dirty="0"/>
          </a:p>
          <a:p>
            <a:pPr marL="0" indent="0" algn="l">
              <a:lnSpc>
                <a:spcPct val="120000"/>
              </a:lnSpc>
              <a:buNone/>
            </a:pPr>
            <a:endParaRPr lang="en-US" sz="2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ru-RU" sz="2400" dirty="0"/>
              <a:t>Затем зададим функцию, которая будет извлекать признаки сезонности, тренда и волатильности из временного ряда</a:t>
            </a:r>
            <a:r>
              <a:rPr lang="en-US" sz="2400" dirty="0"/>
              <a:t>.</a:t>
            </a:r>
            <a:r>
              <a:rPr lang="ru-RU" sz="2400" dirty="0"/>
              <a:t> </a:t>
            </a:r>
            <a:endParaRPr lang="en-US" sz="2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9AAECD2-F30A-4A96-B860-CEF2A9F41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938" y="1732705"/>
            <a:ext cx="9666514" cy="11856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474CBF-128F-4E4D-A4F9-D97BDBB968AD}"/>
              </a:ext>
            </a:extLst>
          </p:cNvPr>
          <p:cNvSpPr txBox="1"/>
          <p:nvPr/>
        </p:nvSpPr>
        <p:spPr>
          <a:xfrm>
            <a:off x="8025896" y="3169043"/>
            <a:ext cx="928914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def</a:t>
            </a:r>
            <a:r>
              <a:rPr lang="ru-RU" dirty="0"/>
              <a:t> </a:t>
            </a:r>
            <a:r>
              <a:rPr lang="ru-RU" dirty="0" err="1"/>
              <a:t>extract_time_series_features</a:t>
            </a:r>
            <a:r>
              <a:rPr lang="ru-RU" dirty="0"/>
              <a:t>(</a:t>
            </a:r>
            <a:r>
              <a:rPr lang="ru-RU" dirty="0" err="1"/>
              <a:t>series_values</a:t>
            </a:r>
            <a:r>
              <a:rPr lang="ru-RU" dirty="0"/>
              <a:t>, </a:t>
            </a:r>
            <a:r>
              <a:rPr lang="ru-RU" dirty="0" err="1"/>
              <a:t>dates</a:t>
            </a:r>
            <a:r>
              <a:rPr lang="ru-RU" dirty="0"/>
              <a:t>, </a:t>
            </a:r>
            <a:r>
              <a:rPr lang="ru-RU" dirty="0" err="1"/>
              <a:t>freq</a:t>
            </a:r>
            <a:r>
              <a:rPr lang="ru-RU" dirty="0"/>
              <a:t>='D'):</a:t>
            </a:r>
          </a:p>
          <a:p>
            <a:r>
              <a:rPr lang="ru-RU" dirty="0"/>
              <a:t>    # ... агрегация, очистка ...</a:t>
            </a:r>
          </a:p>
          <a:p>
            <a:r>
              <a:rPr lang="ru-RU" dirty="0"/>
              <a:t>    </a:t>
            </a:r>
          </a:p>
          <a:p>
            <a:r>
              <a:rPr lang="ru-RU" dirty="0"/>
              <a:t>    # Сезонность через декомпозицию по месяцам</a:t>
            </a:r>
          </a:p>
          <a:p>
            <a:r>
              <a:rPr lang="ru-RU" dirty="0"/>
              <a:t>    </a:t>
            </a:r>
            <a:r>
              <a:rPr lang="ru-RU" dirty="0" err="1"/>
              <a:t>ts_monthly</a:t>
            </a:r>
            <a:r>
              <a:rPr lang="ru-RU" dirty="0"/>
              <a:t> = </a:t>
            </a:r>
            <a:r>
              <a:rPr lang="ru-RU" dirty="0" err="1"/>
              <a:t>ts.resample</a:t>
            </a:r>
            <a:r>
              <a:rPr lang="ru-RU" dirty="0"/>
              <a:t>('M').</a:t>
            </a:r>
            <a:r>
              <a:rPr lang="ru-RU" dirty="0" err="1"/>
              <a:t>sum</a:t>
            </a:r>
            <a:r>
              <a:rPr lang="ru-RU" dirty="0"/>
              <a:t>()</a:t>
            </a:r>
          </a:p>
          <a:p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len</a:t>
            </a:r>
            <a:r>
              <a:rPr lang="ru-RU" dirty="0"/>
              <a:t>(</a:t>
            </a:r>
            <a:r>
              <a:rPr lang="ru-RU" dirty="0" err="1"/>
              <a:t>ts_monthly</a:t>
            </a:r>
            <a:r>
              <a:rPr lang="ru-RU" dirty="0"/>
              <a:t>) &gt;= 12:</a:t>
            </a:r>
          </a:p>
          <a:p>
            <a:r>
              <a:rPr lang="ru-RU" dirty="0"/>
              <a:t>        </a:t>
            </a:r>
            <a:r>
              <a:rPr lang="ru-RU" dirty="0" err="1"/>
              <a:t>monthly_means</a:t>
            </a:r>
            <a:r>
              <a:rPr lang="ru-RU" dirty="0"/>
              <a:t> = </a:t>
            </a:r>
            <a:r>
              <a:rPr lang="ru-RU" dirty="0" err="1"/>
              <a:t>ts_monthly.groupby</a:t>
            </a:r>
            <a:r>
              <a:rPr lang="ru-RU" dirty="0"/>
              <a:t>(</a:t>
            </a:r>
            <a:r>
              <a:rPr lang="ru-RU" dirty="0" err="1"/>
              <a:t>ts_monthly.index.month</a:t>
            </a:r>
            <a:r>
              <a:rPr lang="ru-RU" dirty="0"/>
              <a:t>).</a:t>
            </a:r>
            <a:r>
              <a:rPr lang="ru-RU" dirty="0" err="1"/>
              <a:t>mean</a:t>
            </a:r>
            <a:r>
              <a:rPr lang="ru-RU" dirty="0"/>
              <a:t>()</a:t>
            </a:r>
          </a:p>
          <a:p>
            <a:r>
              <a:rPr lang="ru-RU" dirty="0"/>
              <a:t>        </a:t>
            </a:r>
            <a:r>
              <a:rPr lang="ru-RU" dirty="0" err="1"/>
              <a:t>seasonal_strength</a:t>
            </a:r>
            <a:r>
              <a:rPr lang="ru-RU" dirty="0"/>
              <a:t> = </a:t>
            </a:r>
            <a:r>
              <a:rPr lang="ru-RU" dirty="0" err="1"/>
              <a:t>monthly_means.std</a:t>
            </a:r>
            <a:r>
              <a:rPr lang="ru-RU" dirty="0"/>
              <a:t>() / </a:t>
            </a:r>
            <a:r>
              <a:rPr lang="ru-RU" dirty="0" err="1"/>
              <a:t>monthly_means.mean</a:t>
            </a:r>
            <a:r>
              <a:rPr lang="ru-RU" dirty="0"/>
              <a:t>()</a:t>
            </a:r>
          </a:p>
          <a:p>
            <a:r>
              <a:rPr lang="ru-RU" dirty="0"/>
              <a:t>        </a:t>
            </a:r>
            <a:r>
              <a:rPr lang="ru-RU" dirty="0" err="1"/>
              <a:t>features</a:t>
            </a:r>
            <a:r>
              <a:rPr lang="ru-RU" dirty="0"/>
              <a:t>['</a:t>
            </a:r>
            <a:r>
              <a:rPr lang="ru-RU" dirty="0" err="1"/>
              <a:t>seasonal_strength</a:t>
            </a:r>
            <a:r>
              <a:rPr lang="ru-RU" dirty="0"/>
              <a:t>'] = </a:t>
            </a:r>
            <a:r>
              <a:rPr lang="ru-RU" dirty="0" err="1"/>
              <a:t>seasonal_strength</a:t>
            </a:r>
            <a:endParaRPr lang="ru-RU" dirty="0"/>
          </a:p>
          <a:p>
            <a:r>
              <a:rPr lang="ru-RU" dirty="0"/>
              <a:t>    </a:t>
            </a:r>
          </a:p>
          <a:p>
            <a:r>
              <a:rPr lang="ru-RU" dirty="0"/>
              <a:t>    # Автокорреляция для выявления периодичности</a:t>
            </a:r>
          </a:p>
          <a:p>
            <a:r>
              <a:rPr lang="ru-RU" dirty="0"/>
              <a:t>   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lag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[4, 13, 26, 52]:</a:t>
            </a:r>
          </a:p>
          <a:p>
            <a:r>
              <a:rPr lang="ru-RU" dirty="0"/>
              <a:t>        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len</a:t>
            </a:r>
            <a:r>
              <a:rPr lang="ru-RU" dirty="0"/>
              <a:t>(</a:t>
            </a:r>
            <a:r>
              <a:rPr lang="ru-RU" dirty="0" err="1"/>
              <a:t>ts_clean</a:t>
            </a:r>
            <a:r>
              <a:rPr lang="ru-RU" dirty="0"/>
              <a:t>) &gt; </a:t>
            </a:r>
            <a:r>
              <a:rPr lang="ru-RU" dirty="0" err="1"/>
              <a:t>lag</a:t>
            </a:r>
            <a:r>
              <a:rPr lang="ru-RU" dirty="0"/>
              <a:t>:</a:t>
            </a:r>
          </a:p>
          <a:p>
            <a:r>
              <a:rPr lang="ru-RU" dirty="0"/>
              <a:t>            </a:t>
            </a:r>
            <a:r>
              <a:rPr lang="ru-RU" dirty="0" err="1"/>
              <a:t>features</a:t>
            </a:r>
            <a:r>
              <a:rPr lang="ru-RU" dirty="0"/>
              <a:t>[</a:t>
            </a:r>
            <a:r>
              <a:rPr lang="ru-RU" dirty="0" err="1"/>
              <a:t>f'acf_lag</a:t>
            </a:r>
            <a:r>
              <a:rPr lang="ru-RU" dirty="0"/>
              <a:t>_{</a:t>
            </a:r>
            <a:r>
              <a:rPr lang="ru-RU" dirty="0" err="1"/>
              <a:t>lag</a:t>
            </a:r>
            <a:r>
              <a:rPr lang="ru-RU" dirty="0"/>
              <a:t>}'] = </a:t>
            </a:r>
            <a:r>
              <a:rPr lang="ru-RU" dirty="0" err="1"/>
              <a:t>ts_clean.autocorr</a:t>
            </a:r>
            <a:r>
              <a:rPr lang="ru-RU" dirty="0"/>
              <a:t>(</a:t>
            </a:r>
            <a:r>
              <a:rPr lang="ru-RU" dirty="0" err="1"/>
              <a:t>lag</a:t>
            </a:r>
            <a:r>
              <a:rPr lang="ru-RU" dirty="0"/>
              <a:t>=</a:t>
            </a:r>
            <a:r>
              <a:rPr lang="ru-RU" dirty="0" err="1"/>
              <a:t>lag</a:t>
            </a:r>
            <a:r>
              <a:rPr lang="ru-RU" dirty="0"/>
              <a:t>)</a:t>
            </a:r>
          </a:p>
          <a:p>
            <a:r>
              <a:rPr lang="ru-RU" dirty="0"/>
              <a:t>    </a:t>
            </a:r>
          </a:p>
          <a:p>
            <a:r>
              <a:rPr lang="ru-RU" dirty="0"/>
              <a:t>    # Тренд через линейную регрессию</a:t>
            </a:r>
          </a:p>
          <a:p>
            <a:r>
              <a:rPr lang="ru-RU" dirty="0"/>
              <a:t>    </a:t>
            </a:r>
            <a:r>
              <a:rPr lang="ru-RU" dirty="0" err="1"/>
              <a:t>slope</a:t>
            </a:r>
            <a:r>
              <a:rPr lang="ru-RU" dirty="0"/>
              <a:t>, _, </a:t>
            </a:r>
            <a:r>
              <a:rPr lang="ru-RU" dirty="0" err="1"/>
              <a:t>r_value</a:t>
            </a:r>
            <a:r>
              <a:rPr lang="ru-RU" dirty="0"/>
              <a:t>, </a:t>
            </a:r>
            <a:r>
              <a:rPr lang="ru-RU" dirty="0" err="1"/>
              <a:t>p_value</a:t>
            </a:r>
            <a:r>
              <a:rPr lang="ru-RU" dirty="0"/>
              <a:t>, _ = </a:t>
            </a:r>
            <a:r>
              <a:rPr lang="ru-RU" dirty="0" err="1"/>
              <a:t>stats.linregress</a:t>
            </a:r>
            <a:r>
              <a:rPr lang="ru-RU" dirty="0"/>
              <a:t>(x, </a:t>
            </a:r>
            <a:r>
              <a:rPr lang="ru-RU" dirty="0" err="1"/>
              <a:t>ts_clean.values</a:t>
            </a:r>
            <a:r>
              <a:rPr lang="ru-RU" dirty="0"/>
              <a:t>)</a:t>
            </a:r>
          </a:p>
          <a:p>
            <a:r>
              <a:rPr lang="ru-RU" dirty="0"/>
              <a:t>    </a:t>
            </a:r>
            <a:r>
              <a:rPr lang="ru-RU" dirty="0" err="1"/>
              <a:t>features</a:t>
            </a:r>
            <a:r>
              <a:rPr lang="ru-RU" dirty="0"/>
              <a:t>['</a:t>
            </a:r>
            <a:r>
              <a:rPr lang="ru-RU" dirty="0" err="1"/>
              <a:t>trend_slope</a:t>
            </a:r>
            <a:r>
              <a:rPr lang="ru-RU" dirty="0"/>
              <a:t>'] = </a:t>
            </a:r>
            <a:r>
              <a:rPr lang="ru-RU" dirty="0" err="1"/>
              <a:t>slope</a:t>
            </a:r>
            <a:endParaRPr lang="ru-RU" dirty="0"/>
          </a:p>
          <a:p>
            <a:r>
              <a:rPr lang="ru-RU" dirty="0"/>
              <a:t>    </a:t>
            </a:r>
            <a:r>
              <a:rPr lang="ru-RU" dirty="0" err="1"/>
              <a:t>features</a:t>
            </a:r>
            <a:r>
              <a:rPr lang="ru-RU" dirty="0"/>
              <a:t>['</a:t>
            </a:r>
            <a:r>
              <a:rPr lang="ru-RU" dirty="0" err="1"/>
              <a:t>trend_significant</a:t>
            </a:r>
            <a:r>
              <a:rPr lang="ru-RU" dirty="0"/>
              <a:t>'] = 1 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p_value</a:t>
            </a:r>
            <a:r>
              <a:rPr lang="ru-RU" dirty="0"/>
              <a:t> &lt; 0.05 </a:t>
            </a:r>
            <a:r>
              <a:rPr lang="ru-RU" dirty="0" err="1"/>
              <a:t>else</a:t>
            </a:r>
            <a:r>
              <a:rPr lang="ru-RU" dirty="0"/>
              <a:t> 0</a:t>
            </a:r>
          </a:p>
          <a:p>
            <a:r>
              <a:rPr lang="ru-RU" dirty="0"/>
              <a:t>    </a:t>
            </a:r>
          </a:p>
          <a:p>
            <a:r>
              <a:rPr lang="ru-RU" dirty="0"/>
              <a:t>    </a:t>
            </a:r>
            <a:r>
              <a:rPr lang="ru-RU" dirty="0" err="1"/>
              <a:t>return</a:t>
            </a:r>
            <a:r>
              <a:rPr lang="ru-RU" dirty="0"/>
              <a:t> </a:t>
            </a:r>
            <a:r>
              <a:rPr lang="ru-RU" dirty="0" err="1"/>
              <a:t>features</a:t>
            </a:r>
            <a:endParaRPr lang="ru-RU" dirty="0"/>
          </a:p>
          <a:p>
            <a:endParaRPr lang="ru-RU" dirty="0"/>
          </a:p>
          <a:p>
            <a:r>
              <a:rPr lang="ru-RU" dirty="0"/>
              <a:t># Выбор оптимального k через </a:t>
            </a:r>
            <a:r>
              <a:rPr lang="ru-RU" dirty="0" err="1"/>
              <a:t>Silhouette</a:t>
            </a:r>
            <a:r>
              <a:rPr lang="ru-RU" dirty="0"/>
              <a:t> </a:t>
            </a:r>
            <a:r>
              <a:rPr lang="ru-RU" dirty="0" err="1"/>
              <a:t>Score</a:t>
            </a:r>
            <a:endParaRPr lang="ru-RU" dirty="0"/>
          </a:p>
          <a:p>
            <a:r>
              <a:rPr lang="ru-RU" dirty="0" err="1"/>
              <a:t>optimal_k</a:t>
            </a:r>
            <a:r>
              <a:rPr lang="ru-RU" dirty="0"/>
              <a:t> = </a:t>
            </a:r>
            <a:r>
              <a:rPr lang="ru-RU" dirty="0" err="1"/>
              <a:t>k_range</a:t>
            </a:r>
            <a:r>
              <a:rPr lang="ru-RU" dirty="0"/>
              <a:t>[</a:t>
            </a:r>
            <a:r>
              <a:rPr lang="ru-RU" dirty="0" err="1"/>
              <a:t>np.argmax</a:t>
            </a:r>
            <a:r>
              <a:rPr lang="ru-RU" dirty="0"/>
              <a:t>(</a:t>
            </a:r>
            <a:r>
              <a:rPr lang="ru-RU" dirty="0" err="1"/>
              <a:t>silhouettes</a:t>
            </a:r>
            <a:r>
              <a:rPr lang="ru-RU" dirty="0"/>
              <a:t>)]  # k=2, </a:t>
            </a:r>
            <a:r>
              <a:rPr lang="ru-RU" dirty="0" err="1"/>
              <a:t>silhouette</a:t>
            </a:r>
            <a:r>
              <a:rPr lang="ru-RU" dirty="0"/>
              <a:t>=0.275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C600C7-E46B-45F4-9F04-4ACEF9345EED}"/>
              </a:ext>
            </a:extLst>
          </p:cNvPr>
          <p:cNvSpPr txBox="1"/>
          <p:nvPr/>
        </p:nvSpPr>
        <p:spPr>
          <a:xfrm>
            <a:off x="392430" y="7299817"/>
            <a:ext cx="73581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Функция </a:t>
            </a:r>
            <a:r>
              <a:rPr lang="ru-RU" dirty="0" err="1"/>
              <a:t>extract_time_series_features</a:t>
            </a:r>
            <a:r>
              <a:rPr lang="ru-RU" dirty="0"/>
              <a:t> формирует компактное, но информативное представление ряда, устойчивое к шуму и пропускам. Агрегация по неделям снижает влияние дневных флуктуаций. Лаги ACF охватывают основные бизнес-циклы (месяц, квартал, полугодие, год). Статистическая значимость тренда (p&lt;0.05) отфильтровывает ложные паттерны. Выбор k=2 по максимуму </a:t>
            </a:r>
            <a:r>
              <a:rPr lang="ru-RU" dirty="0" err="1"/>
              <a:t>Silhouette</a:t>
            </a:r>
            <a:r>
              <a:rPr lang="ru-RU" dirty="0"/>
              <a:t> отражает фундаментальное разделение базы на «стабильно растущие» и «сезонно-волатильные» ряды, что соответствует бизнес-интуиции и упрощает операционное внедрение.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1673990" y="1473200"/>
            <a:ext cx="6749646" cy="7048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400" b="1" i="0" dirty="0" err="1">
                <a:solidFill>
                  <a:srgbClr val="1D1D1F"/>
                </a:solidFill>
                <a:effectLst/>
                <a:latin typeface="system-ui"/>
              </a:rPr>
              <a:t>Математиче</a:t>
            </a:r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c</a:t>
            </a:r>
            <a:r>
              <a:rPr lang="ru-RU" sz="2400" b="1" i="0" dirty="0" err="1">
                <a:solidFill>
                  <a:srgbClr val="1D1D1F"/>
                </a:solidFill>
                <a:effectLst/>
                <a:latin typeface="system-ui"/>
              </a:rPr>
              <a:t>ки</a:t>
            </a:r>
            <a:r>
              <a:rPr lang="ru-RU" sz="2400" b="1" i="0" dirty="0">
                <a:solidFill>
                  <a:srgbClr val="1D1D1F"/>
                </a:solidFill>
                <a:effectLst/>
                <a:latin typeface="system-ui"/>
              </a:rPr>
              <a:t>-логическая основа:</a:t>
            </a:r>
            <a:endParaRPr lang="en-US" sz="2400" dirty="0">
              <a:solidFill>
                <a:srgbClr val="1D1D1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Признак сезонной силы: 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μ/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где 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ru-RU" sz="1800" i="1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 и 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ru-RU" sz="1800" i="1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 — стандартное отклонение и среднее по месячным агрегатам. Высокое 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указывает на выраженный годовой цикл.</a:t>
            </a:r>
            <a:endParaRPr lang="ru-RU" sz="18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Автокорреляционная функция (ACF) на лагах 4, 13, 26, 52 недель выявляет краткосрочную, квартальную и годовую периодичность.</a:t>
            </a:r>
            <a:endParaRPr lang="ru-RU" sz="18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Коэффициент вариации 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CV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i="1" dirty="0">
                <a:solidFill>
                  <a:srgbClr val="1D1D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 и отношение волатильности к скользящему среднему характеризуют стабильность спроса: низкий 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CV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предсказуемый ряд, высокий 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CV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требует буферных запасов.</a:t>
            </a:r>
            <a:endParaRPr lang="ru-RU" sz="18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Регулярность заказов: 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=1/(1+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t)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​​, где </a:t>
            </a:r>
            <a:r>
              <a:rPr lang="ru-RU" sz="1800" i="1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sz="1800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ru-RU" sz="1800" i="1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 — стандартное отклонение интервалов между заказами. 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i="1" dirty="0">
                <a:solidFill>
                  <a:srgbClr val="1D1D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означает строгую периодичность.</a:t>
            </a:r>
            <a:endParaRPr lang="ru-RU" sz="18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Метрика </a:t>
            </a:r>
            <a:r>
              <a:rPr lang="ru-RU" sz="1800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Silhouette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где 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— среднее расстояние внутри кластера, 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— минимальное среднее расстояние до другого кластера. sˉ&gt;0.25</a:t>
            </a:r>
            <a:r>
              <a:rPr lang="ru-RU" sz="1800" i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ˉ&gt;0.25 указывает на приемлемое разделение.</a:t>
            </a:r>
            <a:endParaRPr lang="ru-RU" sz="18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B7DDFA-CD65-4A9E-8D82-AB5A50575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3834" y="98293"/>
            <a:ext cx="6470176" cy="1009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50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1152475" y="1726869"/>
            <a:ext cx="6749646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Оптимальное число кластеров: k = 2 (</a:t>
            </a:r>
            <a:r>
              <a:rPr lang="ru-RU" sz="1800" b="1" dirty="0" err="1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silhouette</a:t>
            </a:r>
            <a:r>
              <a:rPr lang="ru-RU" sz="1800" b="1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0.275)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8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Кластеризация с k = 2...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Распределение рядов по кластерам: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• Кластер 0: 979 рядов (75.1%)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• Кластер 1: 325 рядов (24.9%)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Выявляем 2 сезонных кластера: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БИЗНЕС-НАЗВАНИЯ КЛАСТЕРОВ: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• Кластер 0: растущие (979 рядов)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• Кластер 1: Сезонные падающие волатильные (325 рядов)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8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A69F45-EC97-477D-B358-8C7778151087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60"/>
          <a:stretch/>
        </p:blipFill>
        <p:spPr bwMode="auto">
          <a:xfrm>
            <a:off x="10390362" y="2492526"/>
            <a:ext cx="6048427" cy="42254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E6B1A0-7CA5-4260-A76B-AD1D2A9C7E12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075" y="5663869"/>
            <a:ext cx="8588426" cy="33470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20296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03300" y="0"/>
            <a:ext cx="18288000" cy="10287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308174" y="-482931"/>
            <a:ext cx="8105825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400" b="1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Аналогично обучим модель </a:t>
            </a:r>
            <a:r>
              <a:rPr lang="ru-RU" sz="2400" b="1" dirty="0" err="1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квантильной</a:t>
            </a:r>
            <a:r>
              <a:rPr lang="ru-RU" sz="2400" b="1" dirty="0">
                <a:solidFill>
                  <a:srgbClr val="1D1D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регрессии с внедренной сезонностью</a:t>
            </a:r>
            <a:endParaRPr lang="ru-RU" sz="24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8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7183B6-3AC7-40F6-886D-7B0EE3DF9838}"/>
              </a:ext>
            </a:extLst>
          </p:cNvPr>
          <p:cNvSpPr txBox="1"/>
          <p:nvPr/>
        </p:nvSpPr>
        <p:spPr>
          <a:xfrm>
            <a:off x="2308174" y="1904177"/>
            <a:ext cx="6195396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ru-RU" sz="1400" dirty="0"/>
              <a:t>Всего признаков: 50 (включая </a:t>
            </a:r>
            <a:r>
              <a:rPr lang="en-US" sz="1400" dirty="0" err="1"/>
              <a:t>seasonality_class_enc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ru-RU" sz="1400" dirty="0"/>
              <a:t>Обучение моделей с разными </a:t>
            </a:r>
            <a:r>
              <a:rPr lang="en-US" sz="1400" dirty="0"/>
              <a:t>alpha (</a:t>
            </a:r>
            <a:r>
              <a:rPr lang="ru-RU" sz="1400" dirty="0"/>
              <a:t>поиск оптимума)...</a:t>
            </a:r>
          </a:p>
          <a:p>
            <a:r>
              <a:rPr lang="ru-RU" sz="1400" dirty="0"/>
              <a:t>   </a:t>
            </a:r>
            <a:r>
              <a:rPr lang="el-GR" sz="1400" dirty="0"/>
              <a:t>α=0.50: </a:t>
            </a:r>
            <a:r>
              <a:rPr lang="en-US" sz="1400" dirty="0"/>
              <a:t>MAPE=2.71%, SMAPE=2.65%, Bias=-0.18%, Coverage±15%=98.6%</a:t>
            </a:r>
          </a:p>
          <a:p>
            <a:r>
              <a:rPr lang="en-US" sz="1400" dirty="0"/>
              <a:t>   </a:t>
            </a:r>
            <a:r>
              <a:rPr lang="el-GR" sz="1400" dirty="0"/>
              <a:t>α=0.51: </a:t>
            </a:r>
            <a:r>
              <a:rPr lang="en-US" sz="1400" dirty="0"/>
              <a:t>MAPE=2.74%, SMAPE=2.67%, Bias=+0.27%, Coverage±15%=98.5%</a:t>
            </a:r>
          </a:p>
          <a:p>
            <a:r>
              <a:rPr lang="en-US" sz="1400" dirty="0"/>
              <a:t>   </a:t>
            </a:r>
            <a:r>
              <a:rPr lang="el-GR" sz="1400" dirty="0"/>
              <a:t>α=0.52: </a:t>
            </a:r>
            <a:r>
              <a:rPr lang="en-US" sz="1400" dirty="0"/>
              <a:t>MAPE=2.73%, SMAPE=2.65%, Bias=+0.10%, Coverage±15%=98.5%</a:t>
            </a:r>
          </a:p>
          <a:p>
            <a:r>
              <a:rPr lang="en-US" sz="1400" dirty="0"/>
              <a:t>   </a:t>
            </a:r>
            <a:r>
              <a:rPr lang="el-GR" sz="1400" dirty="0"/>
              <a:t>α=0.53: </a:t>
            </a:r>
            <a:r>
              <a:rPr lang="en-US" sz="1400" dirty="0"/>
              <a:t>MAPE=2.71%, SMAPE=2.65%, Bias=+0.62%, Coverage±15%=98.5%</a:t>
            </a:r>
          </a:p>
          <a:p>
            <a:r>
              <a:rPr lang="en-US" sz="1400" dirty="0"/>
              <a:t>   </a:t>
            </a:r>
            <a:r>
              <a:rPr lang="el-GR" sz="1400" dirty="0"/>
              <a:t>α=0.54: </a:t>
            </a:r>
            <a:r>
              <a:rPr lang="en-US" sz="1400" dirty="0"/>
              <a:t>MAPE=2.71%, SMAPE=2.64%, Bias=+0.67%, Coverage±15%=98.4%</a:t>
            </a:r>
          </a:p>
          <a:p>
            <a:r>
              <a:rPr lang="en-US" sz="1400" dirty="0"/>
              <a:t>   </a:t>
            </a:r>
            <a:r>
              <a:rPr lang="el-GR" sz="1400" dirty="0"/>
              <a:t>α=0.55: </a:t>
            </a:r>
            <a:r>
              <a:rPr lang="en-US" sz="1400" dirty="0"/>
              <a:t>MAPE=2.75%, SMAPE=2.67%, Bias=+1.55%, Coverage±15%=98.4%</a:t>
            </a:r>
          </a:p>
          <a:p>
            <a:endParaRPr lang="en-US" sz="1400" dirty="0"/>
          </a:p>
          <a:p>
            <a:r>
              <a:rPr lang="ru-RU" sz="1400" dirty="0"/>
              <a:t>Выбор оптимального </a:t>
            </a:r>
            <a:r>
              <a:rPr lang="en-US" sz="1400" dirty="0"/>
              <a:t>alpha...</a:t>
            </a:r>
          </a:p>
          <a:p>
            <a:endParaRPr lang="en-US" sz="1400" dirty="0"/>
          </a:p>
          <a:p>
            <a:r>
              <a:rPr lang="en-US" sz="1400" dirty="0"/>
              <a:t>  </a:t>
            </a:r>
            <a:r>
              <a:rPr lang="ru-RU" sz="1400" dirty="0"/>
              <a:t>Лучший </a:t>
            </a:r>
            <a:r>
              <a:rPr lang="en-US" sz="1400" dirty="0"/>
              <a:t>alpha: 0.52</a:t>
            </a:r>
          </a:p>
          <a:p>
            <a:r>
              <a:rPr lang="en-US" sz="1400" dirty="0"/>
              <a:t>   • MAPE: 2.73% (baseline: 2.71%)</a:t>
            </a:r>
          </a:p>
          <a:p>
            <a:r>
              <a:rPr lang="en-US" sz="1400" dirty="0"/>
              <a:t>   • SMAPE: 2.65%</a:t>
            </a:r>
          </a:p>
          <a:p>
            <a:r>
              <a:rPr lang="en-US" sz="1400" dirty="0"/>
              <a:t>   • Aggregate Bias: +0.10%</a:t>
            </a:r>
          </a:p>
          <a:p>
            <a:r>
              <a:rPr lang="en-US" sz="1400" dirty="0"/>
              <a:t>   • Coverage ±15%: 98.5%</a:t>
            </a:r>
          </a:p>
          <a:p>
            <a:endParaRPr lang="en-US" sz="1400" dirty="0"/>
          </a:p>
          <a:p>
            <a:r>
              <a:rPr lang="en-US" sz="1400" dirty="0"/>
              <a:t>[5] </a:t>
            </a:r>
            <a:r>
              <a:rPr lang="ru-RU" sz="1400" dirty="0"/>
              <a:t>Расширенная оценка качества и визуализация...</a:t>
            </a:r>
          </a:p>
          <a:p>
            <a:endParaRPr lang="ru-RU" sz="1400" dirty="0"/>
          </a:p>
          <a:p>
            <a:r>
              <a:rPr lang="ru-RU" sz="1400" dirty="0"/>
              <a:t> ДОПОЛНИТЕЛЬНЫЕ МЕТРИКИ КАЧЕСТВА:</a:t>
            </a:r>
          </a:p>
          <a:p>
            <a:r>
              <a:rPr lang="ru-RU" sz="1400" dirty="0"/>
              <a:t>Метрика                                    Значение</a:t>
            </a:r>
          </a:p>
          <a:p>
            <a:r>
              <a:rPr lang="ru-RU" sz="1400" dirty="0"/>
              <a:t>----------------------------------------------------</a:t>
            </a:r>
          </a:p>
          <a:p>
            <a:r>
              <a:rPr lang="en-US" sz="1400" dirty="0"/>
              <a:t>MAE (</a:t>
            </a:r>
            <a:r>
              <a:rPr lang="ru-RU" sz="1400" dirty="0" err="1"/>
              <a:t>руб</a:t>
            </a:r>
            <a:r>
              <a:rPr lang="ru-RU" sz="1400" dirty="0"/>
              <a:t>)                                   201,081</a:t>
            </a:r>
          </a:p>
          <a:p>
            <a:r>
              <a:rPr lang="en-US" sz="1400" dirty="0"/>
              <a:t>RMSE (</a:t>
            </a:r>
            <a:r>
              <a:rPr lang="ru-RU" sz="1400" dirty="0" err="1"/>
              <a:t>руб</a:t>
            </a:r>
            <a:r>
              <a:rPr lang="ru-RU" sz="1400" dirty="0"/>
              <a:t>)                                3,272,350</a:t>
            </a:r>
          </a:p>
          <a:p>
            <a:r>
              <a:rPr lang="en-US" sz="1400" dirty="0"/>
              <a:t>R^2 Score                                     0.9177</a:t>
            </a:r>
          </a:p>
          <a:p>
            <a:r>
              <a:rPr lang="en-US" sz="1400" dirty="0"/>
              <a:t>% </a:t>
            </a:r>
            <a:r>
              <a:rPr lang="ru-RU" sz="1400" dirty="0"/>
              <a:t>прогнозов в </a:t>
            </a:r>
            <a:r>
              <a:rPr lang="en-US" sz="1400" dirty="0"/>
              <a:t>+-</a:t>
            </a:r>
            <a:r>
              <a:rPr lang="ru-RU" sz="1400" dirty="0"/>
              <a:t>15%                           98.54%</a:t>
            </a:r>
          </a:p>
          <a:p>
            <a:endParaRPr lang="ru-RU" sz="1400" dirty="0"/>
          </a:p>
          <a:p>
            <a:r>
              <a:rPr lang="ru-RU" sz="1400" dirty="0"/>
              <a:t>ОШИБКА ПО КЛАССАМ СЕЗОННОСТИ:</a:t>
            </a:r>
          </a:p>
          <a:p>
            <a:r>
              <a:rPr lang="ru-RU" sz="1400" dirty="0"/>
              <a:t>            </a:t>
            </a:r>
            <a:r>
              <a:rPr lang="en-US" sz="1400" dirty="0" err="1"/>
              <a:t>seasonality_class</a:t>
            </a:r>
            <a:r>
              <a:rPr lang="en-US" sz="1400" dirty="0"/>
              <a:t>     </a:t>
            </a:r>
            <a:r>
              <a:rPr lang="en-US" sz="1400" dirty="0" err="1"/>
              <a:t>mape</a:t>
            </a:r>
            <a:r>
              <a:rPr lang="en-US" sz="1400" dirty="0"/>
              <a:t>  count</a:t>
            </a:r>
          </a:p>
          <a:p>
            <a:r>
              <a:rPr lang="en-US" sz="1400" dirty="0"/>
              <a:t>                      Unknown 4.950905    523</a:t>
            </a:r>
          </a:p>
          <a:p>
            <a:r>
              <a:rPr lang="ru-RU" sz="1400" dirty="0"/>
              <a:t>Сезонные падающие волатильные 4.627110   2475</a:t>
            </a:r>
          </a:p>
          <a:p>
            <a:r>
              <a:rPr lang="ru-RU" sz="1400" dirty="0"/>
              <a:t>                     растущие 2.379211  16951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2837E58-BADB-4FC9-99CD-0575479731E2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3" r="70162" b="50246"/>
          <a:stretch/>
        </p:blipFill>
        <p:spPr bwMode="auto">
          <a:xfrm>
            <a:off x="10173632" y="844550"/>
            <a:ext cx="5744012" cy="41317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1062641-21F8-4EC4-AE62-315BD0E47E8D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27" b="50056"/>
          <a:stretch/>
        </p:blipFill>
        <p:spPr bwMode="auto">
          <a:xfrm>
            <a:off x="10413999" y="4956919"/>
            <a:ext cx="4749799" cy="436467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85324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30300" y="0"/>
            <a:ext cx="18288000" cy="10287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308174" y="0"/>
            <a:ext cx="8105825" cy="176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Видим, что в сезонности появился 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Unknown </a:t>
            </a: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класс. Доопределим, что он значит.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1BB420C-70D4-4C24-B2DB-4760E389C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5839" y="163135"/>
            <a:ext cx="6387020" cy="996072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C1FFF6C-E814-46E3-AFC7-2A24A996F44A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141" y="2362003"/>
            <a:ext cx="8407398" cy="556299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27006E-9BDD-468C-BB9F-EA82DC4416F0}"/>
              </a:ext>
            </a:extLst>
          </p:cNvPr>
          <p:cNvSpPr txBox="1"/>
          <p:nvPr/>
        </p:nvSpPr>
        <p:spPr>
          <a:xfrm>
            <a:off x="883189" y="8088130"/>
            <a:ext cx="9772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Таким образом, можно увидеть, что сезонный кластер не 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доопределился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 нашим критериям, т.к. его история является короткой.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4462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57300" y="0"/>
            <a:ext cx="18288000" cy="10287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23775" y="9536150"/>
            <a:ext cx="1028700" cy="7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308174" y="221523"/>
            <a:ext cx="8105825" cy="176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Таким образом, можно увидеть, что сезонный кластер не </a:t>
            </a:r>
            <a:r>
              <a:rPr lang="ru-RU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доопределился</a:t>
            </a: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 нашим критериям, т.к. его история является короткой. Исправим это.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03E67BD-844B-4E65-9548-3B7AEEA01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3999" y="1085290"/>
            <a:ext cx="6335268" cy="69754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65C700A-E6D7-4F67-8C99-B238F37FB931}"/>
              </a:ext>
            </a:extLst>
          </p:cNvPr>
          <p:cNvSpPr txBox="1"/>
          <p:nvPr/>
        </p:nvSpPr>
        <p:spPr>
          <a:xfrm>
            <a:off x="1366125" y="2203234"/>
            <a:ext cx="76817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Правило </a:t>
            </a:r>
            <a:r>
              <a:rPr lang="ru-RU" dirty="0" err="1"/>
              <a:t>is_unknown</a:t>
            </a:r>
            <a:r>
              <a:rPr lang="ru-RU" dirty="0"/>
              <a:t> &amp; </a:t>
            </a:r>
            <a:r>
              <a:rPr lang="ru-RU" dirty="0" err="1"/>
              <a:t>is_new</a:t>
            </a:r>
            <a:r>
              <a:rPr lang="ru-RU" dirty="0"/>
              <a:t> изолирует клиентов, для которых классификация сезонности статистически неустойчива, и присваивает им управляемый ярлык «Новые клиенты». Это предотвращает «загрязнение» профилей кластеров и позволяет применять упрощённые стратегии прогнозирования. Проверка калибровки через </a:t>
            </a:r>
            <a:r>
              <a:rPr lang="ru-RU" dirty="0" err="1"/>
              <a:t>actual_below_pred</a:t>
            </a:r>
            <a:r>
              <a:rPr lang="ru-RU" dirty="0"/>
              <a:t> — обязательный этап валидации </a:t>
            </a:r>
            <a:r>
              <a:rPr lang="ru-RU" dirty="0" err="1"/>
              <a:t>квантильных</a:t>
            </a:r>
            <a:r>
              <a:rPr lang="ru-RU" dirty="0"/>
              <a:t> моделей в </a:t>
            </a:r>
            <a:r>
              <a:rPr lang="ru-RU" dirty="0" err="1"/>
              <a:t>продакшене</a:t>
            </a:r>
            <a:r>
              <a:rPr lang="ru-RU" dirty="0"/>
              <a:t>, так как она подтверждает, что модель не просто минимизирует функцию потерь, но и выдаёт прогнозы с интерпретируемой вероятностной семантикой.</a:t>
            </a:r>
          </a:p>
          <a:p>
            <a:r>
              <a:rPr lang="ru-RU" dirty="0"/>
              <a:t>Внедрив это правило перед построением моделью, проведем расчеты еще раз.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2BFEF4A-DBDC-4C0F-BDB6-92B18D3437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3247" y="5204195"/>
            <a:ext cx="7080467" cy="470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575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57150" y="428975"/>
            <a:ext cx="14362200" cy="151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Сегментная точность прогноза
</a:t>
            </a:r>
            <a:endParaRPr lang="en-US" sz="4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59F8E-5F11-428B-B4EE-D8A714DFCC49}"/>
              </a:ext>
            </a:extLst>
          </p:cNvPr>
          <p:cNvSpPr txBox="1"/>
          <p:nvPr/>
        </p:nvSpPr>
        <p:spPr>
          <a:xfrm>
            <a:off x="957150" y="1371027"/>
            <a:ext cx="10698503" cy="560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Модель достигла агрегированного смещения -0.01%, что фактически означает «прогноз = факт» на уровне компании — критично для бюджетного планирования и управления запасами. Сегментный анализ выявил ожидаемую иерархию точности: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«Растущие» (76% базы): MAPE 2.45% — ядро стабильного бизнеса, прогноз надёжен для операционного планирования.</a:t>
            </a:r>
            <a:endParaRPr lang="ru-RU" sz="20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«Сезонные падающие волатильные»: MAPE 4.65% — требует ежеквартального пересмотра и повышенных страховых остатков.</a:t>
            </a:r>
            <a:endParaRPr lang="ru-RU" sz="20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«Новые клиенты»: MAPE 4.23% при длине истории &lt;1 года — приемлемо для старта, но требует мониторинга дрейфа.</a:t>
            </a:r>
            <a:endParaRPr lang="ru-RU" sz="20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«Неопределённый»: MAPE 7.95% — кандидаты на углублённый аудит данных или исключение из активного прогнозирования.</a:t>
            </a:r>
            <a:endParaRPr lang="ru-RU" sz="20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rgbClr val="E3E3E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01D8B37-6F57-4396-B2BD-5ECEBBB79C6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5653" y="836579"/>
            <a:ext cx="6321062" cy="494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EE51FB2-007C-4E4F-8ECC-F20EA887BF81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0425" y="6145741"/>
            <a:ext cx="5940425" cy="354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42684" y="592953"/>
            <a:ext cx="14652312" cy="474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 по управлению кластерами (Task 1)</a:t>
            </a:r>
            <a:endParaRPr lang="en-US" sz="60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	</a:t>
            </a:r>
            <a:r>
              <a:rPr lang="ru-RU" sz="25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Стратегическое ядро (VIP, Крупный/Средний опт, Операционные закупки): </a:t>
            </a: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закрепить приоритет в </a:t>
            </a:r>
            <a:r>
              <a:rPr lang="ru-RU" sz="2500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аллокации</a:t>
            </a: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логистических ресурсов и персональных менеджеров. Интегрировать с ERP для автоматизации повторных заказов и кросс-сейла.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	</a:t>
            </a:r>
            <a:r>
              <a:rPr lang="ru-RU" sz="2500" b="1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Госзаказчики</a:t>
            </a: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вывести в отдельный P&amp;L-центр с фокусом на выполнение контрактных обязательств и календарное планирование под тендерные циклы. Контроль кассовых разрывов и отсрочек платежей.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	</a:t>
            </a:r>
            <a:r>
              <a:rPr lang="ru-RU" sz="25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Убыточные и нерегулярные сегменты</a:t>
            </a: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провести аудит ценообразования и логистических условий. Варианты: перевод на предоплату, введение минимального объема заказа, плановый вывод из активной базы. Ожидаемый эффект: рост средней маржи на 0.7–1.1 </a:t>
            </a:r>
            <a:r>
              <a:rPr lang="ru-RU" sz="2500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п.п</a:t>
            </a: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	</a:t>
            </a:r>
            <a:r>
              <a:rPr lang="ru-RU" sz="25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Цифровизация обслуживания: </a:t>
            </a: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мелких и онлайн-сегментов внедрить </a:t>
            </a:r>
            <a:r>
              <a:rPr lang="ru-RU" sz="2500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</a:t>
            </a: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порталы, пакетирование заказов и автоматизированные рассылки. Цель: снижение </a:t>
            </a:r>
            <a:r>
              <a:rPr lang="ru-RU" sz="2500" dirty="0" err="1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cost-to-serve</a:t>
            </a: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20–25%.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	</a:t>
            </a:r>
            <a:r>
              <a:rPr lang="ru-RU" sz="2500" b="1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контроля</a:t>
            </a:r>
            <a:r>
              <a:rPr lang="ru-RU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удержание стратегических сегментов ≥94%, сокращение доли убыточных контрактов до ≤3.5%, рост повторных заказов на 10–15% кв/кв.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6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086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42684" y="592953"/>
            <a:ext cx="14652312" cy="199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 по модели </a:t>
            </a:r>
            <a:r>
              <a:rPr lang="ru-RU" sz="4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квантильной</a:t>
            </a:r>
            <a:r>
              <a:rPr lang="ru-RU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регрессии с классификацией сезонности (Task 2 + </a:t>
            </a:r>
            <a:r>
              <a:rPr lang="ru-RU" sz="4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r>
              <a:rPr lang="ru-RU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500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928A6A-1709-4AF0-88F7-19C7E530D547}"/>
              </a:ext>
            </a:extLst>
          </p:cNvPr>
          <p:cNvSpPr txBox="1"/>
          <p:nvPr/>
        </p:nvSpPr>
        <p:spPr>
          <a:xfrm>
            <a:off x="1242683" y="3148830"/>
            <a:ext cx="14940745" cy="6833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Production-внедрение:</a:t>
            </a: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модель с α=0.53 готова к загрузке в WMS/ERP. Агрегированное смещение -0.01% обеспечивает нейтральный баланс «прогноз = факт» на уровне бюджета, исключая ручные коэффициенты масштабирования</a:t>
            </a:r>
            <a:endParaRPr lang="en-US" sz="2400" dirty="0">
              <a:solidFill>
                <a:srgbClr val="1D1D1F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Дифференциация по сезонности:</a:t>
            </a: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автоматическая разметка рядов («растущие» 75.1% </a:t>
            </a:r>
            <a:r>
              <a:rPr lang="ru-RU" sz="2400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</a:t>
            </a: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«сезонные волатильные» 24.9%) должна напрямую влиять на параметры страховых запасов. Для сезонных рядов: повышенный </a:t>
            </a:r>
            <a:r>
              <a:rPr lang="ru-RU" sz="2400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buffer</a:t>
            </a: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пересмотр прогноза каждые 14 дней, контроль децилей ошибок.</a:t>
            </a:r>
            <a:endParaRPr lang="ru-RU" sz="24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Калибровка и мониторинг:</a:t>
            </a: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ежеквартальная проверка </a:t>
            </a:r>
            <a:r>
              <a:rPr lang="ru-RU" sz="2400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квантильной</a:t>
            </a: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калибровки (отклонение факта от прогноза &lt;2 </a:t>
            </a:r>
            <a:r>
              <a:rPr lang="ru-RU" sz="2400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п.п</a:t>
            </a: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.), мониторинг дрейфа распределений, автоматическое переобучение при изменении </a:t>
            </a:r>
            <a:r>
              <a:rPr lang="ru-RU" sz="2400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bias</a:t>
            </a: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&gt;1%.</a:t>
            </a:r>
            <a:endParaRPr lang="ru-RU" sz="24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Обработка «холодного старта»:</a:t>
            </a: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правило </a:t>
            </a:r>
            <a:r>
              <a:rPr lang="en-US" sz="2400" dirty="0">
                <a:solidFill>
                  <a:srgbClr val="1D1D1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“365 </a:t>
            </a:r>
            <a:r>
              <a:rPr lang="ru-RU" sz="2400" dirty="0">
                <a:solidFill>
                  <a:srgbClr val="1D1D1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дней истории =</a:t>
            </a:r>
            <a:r>
              <a:rPr lang="en-US" sz="2400" dirty="0">
                <a:solidFill>
                  <a:srgbClr val="1D1D1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ru-RU" sz="2400" dirty="0">
                <a:solidFill>
                  <a:srgbClr val="1D1D1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новые клиенты»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изолирует нестабильные ряды, применяя консервативные прогнозы до накопления статистики. Для «Неопределённого» класса — триггер на ручной аудит данных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Метрики контроля:</a:t>
            </a:r>
            <a:r>
              <a:rPr lang="ru-RU" sz="24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MAPE 2.78%, покрытие ±15% 98.4%, медианная ошибка по клиентам 2.25%, готовность к сквозной интеграции без пост-коррекции.</a:t>
            </a:r>
            <a:endParaRPr lang="ru-RU" sz="24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460499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086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42683" y="304376"/>
            <a:ext cx="14652312" cy="199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dirty="0">
                <a:solidFill>
                  <a:srgbClr val="1C3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4400" b="1" spc="-25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Комплексная стратегия: мост между кластерами и прогнозированием</a:t>
            </a:r>
            <a:endParaRPr lang="ru-RU" sz="4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4400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8B592C56-95BE-4CF1-AE73-B04931333C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991279"/>
              </p:ext>
            </p:extLst>
          </p:nvPr>
        </p:nvGraphicFramePr>
        <p:xfrm>
          <a:off x="3665538" y="2609850"/>
          <a:ext cx="10468304" cy="506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5925852" imgH="2868247" progId="Word.Document.12">
                  <p:embed/>
                </p:oleObj>
              </mc:Choice>
              <mc:Fallback>
                <p:oleObj name="Document" r:id="rId5" imgW="5925852" imgH="28682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65538" y="2609850"/>
                        <a:ext cx="10468304" cy="506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FC7B917-34CF-45D6-A8F1-CE6120318EF2}"/>
              </a:ext>
            </a:extLst>
          </p:cNvPr>
          <p:cNvSpPr txBox="1"/>
          <p:nvPr/>
        </p:nvSpPr>
        <p:spPr>
          <a:xfrm>
            <a:off x="350197" y="7192171"/>
            <a:ext cx="13501990" cy="2459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Архитектура принятия решений: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Стратегический уровень (Task 1):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ежеквартальный пересмотр сегментов, ценовая политика, </a:t>
            </a:r>
            <a:r>
              <a:rPr lang="ru-RU" sz="1800" dirty="0" err="1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аллокация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бюджета, работа с оттоком.</a:t>
            </a:r>
            <a:endParaRPr lang="ru-RU" sz="18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Операционный уровень (Task 2):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ежедневный/еженедельный прогноз объемов, управление остатками, логистические маршруты.</a:t>
            </a:r>
            <a:endParaRPr lang="ru-RU" sz="18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Тактический мост:</a:t>
            </a:r>
            <a:r>
              <a:rPr lang="ru-RU" sz="1800" dirty="0">
                <a:solidFill>
                  <a:srgbClr val="1D1D1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автоматическое назначение правил управления запасами, сервисных SLA и KPI на основе комбинации «Кластер × Класс сезонности».</a:t>
            </a:r>
            <a:endParaRPr lang="ru-RU" sz="1800" dirty="0">
              <a:solidFill>
                <a:srgbClr val="1D1D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435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5207</Words>
  <Application>Microsoft Macintosh PowerPoint</Application>
  <PresentationFormat>Произвольный</PresentationFormat>
  <Paragraphs>503</Paragraphs>
  <Slides>41</Slides>
  <Notes>41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9" baseType="lpstr">
      <vt:lpstr>Arial</vt:lpstr>
      <vt:lpstr>Calibri</vt:lpstr>
      <vt:lpstr>Courier New</vt:lpstr>
      <vt:lpstr>Symbol</vt:lpstr>
      <vt:lpstr>system-ui</vt:lpstr>
      <vt:lpstr>Times New Roman</vt:lpstr>
      <vt:lpstr>Office Theme</vt:lpstr>
      <vt:lpstr>Document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Нубар Исмаилова</cp:lastModifiedBy>
  <cp:revision>14</cp:revision>
  <dcterms:created xsi:type="dcterms:W3CDTF">2026-05-11T20:09:42Z</dcterms:created>
  <dcterms:modified xsi:type="dcterms:W3CDTF">2026-08-14T13:56:38Z</dcterms:modified>
</cp:coreProperties>
</file>